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Arimo SemiBold"/>
      <p:regular r:id="rId23"/>
      <p:bold r:id="rId24"/>
      <p:italic r:id="rId25"/>
      <p:boldItalic r:id="rId26"/>
    </p:embeddedFont>
    <p:embeddedFont>
      <p:font typeface="Arimo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9C3F20-1CF7-47F8-8A8A-180353A31B70}">
  <a:tblStyle styleId="{4D9C3F20-1CF7-47F8-8A8A-180353A31B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ArimoSemiBold-bold.fntdata"/><Relationship Id="rId23" Type="http://schemas.openxmlformats.org/officeDocument/2006/relationships/font" Target="fonts/Arimo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SemiBold-boldItalic.fntdata"/><Relationship Id="rId25" Type="http://schemas.openxmlformats.org/officeDocument/2006/relationships/font" Target="fonts/ArimoSemiBold-italic.fntdata"/><Relationship Id="rId28" Type="http://schemas.openxmlformats.org/officeDocument/2006/relationships/font" Target="fonts/ArimoMedium-bold.fntdata"/><Relationship Id="rId27" Type="http://schemas.openxmlformats.org/officeDocument/2006/relationships/font" Target="fonts/Arim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Arimo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im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d82c3f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d82c3f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d82c3f44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d82c3f44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d82c3f44a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d82c3f44a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d82c3f44a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d82c3f44a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d82c3f44a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dd82c3f44a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d82c3f44a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dd82c3f44a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d82c3f44a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d82c3f44a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d82c3f44a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d82c3f44a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d82c3f44a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d82c3f44a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d82c3f44a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d82c3f44a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d82c3f44a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d82c3f44a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d82c3f44a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dd82c3f44a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Jackson Adame-Covey, Celine Aoun, and Audrija Bhattacharya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Group 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05/07/2026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The Effect of Various Pollutants on Respiratory Health in New York City, Delhi, and Rio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361" name="Google Shape;361;p45"/>
          <p:cNvSpPr txBox="1"/>
          <p:nvPr/>
        </p:nvSpPr>
        <p:spPr>
          <a:xfrm>
            <a:off x="783363" y="4223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</a:t>
            </a:r>
            <a:endParaRPr i="1" sz="3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45"/>
          <p:cNvSpPr txBox="1"/>
          <p:nvPr/>
        </p:nvSpPr>
        <p:spPr>
          <a:xfrm>
            <a:off x="767475" y="1115750"/>
            <a:ext cx="68991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major metropolitans, long-COVID, and air pollution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respiratory risk factors across metropolitans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Inclusion and exclusion criteria + search strings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most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prevalent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air pollutants by location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future international policy implications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368" name="Google Shape;368;p46"/>
          <p:cNvSpPr txBox="1"/>
          <p:nvPr/>
        </p:nvSpPr>
        <p:spPr>
          <a:xfrm>
            <a:off x="767475" y="422300"/>
            <a:ext cx="389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</a:t>
            </a:r>
            <a:endParaRPr i="1" sz="3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767475" y="1205850"/>
            <a:ext cx="7311600" cy="30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99% of world lives in conditions where WHO air quality guideline levels are not met → to 6.7 million premature deaths a year 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respiratory health; 400 million Long-Covid 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 et al. examined the exposure effects of air pollutants on respiratory health symptoms 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 et al. studied biofuel air pollutant characteristics in Brazil.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Neither were geographically comparative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375" name="Google Shape;375;p47"/>
          <p:cNvSpPr txBox="1"/>
          <p:nvPr/>
        </p:nvSpPr>
        <p:spPr>
          <a:xfrm>
            <a:off x="767475" y="4223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 </a:t>
            </a:r>
            <a:endParaRPr i="1" sz="3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767475" y="1346400"/>
            <a:ext cx="73326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comparative review that builds off of previous research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how some of the world’s most important areas are affected by air pollution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which air pollutants pose the most risk to inform global policy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382" name="Google Shape;382;p48"/>
          <p:cNvSpPr txBox="1"/>
          <p:nvPr/>
        </p:nvSpPr>
        <p:spPr>
          <a:xfrm>
            <a:off x="767475" y="4223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i="1" sz="3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8"/>
          <p:cNvSpPr txBox="1"/>
          <p:nvPr/>
        </p:nvSpPr>
        <p:spPr>
          <a:xfrm>
            <a:off x="767475" y="1389725"/>
            <a:ext cx="744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most common air pollutants that lead to upper respiratory tract infections and bronchial diseases in New York City, New Delhi, and Rio De Janeiro?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49"/>
          <p:cNvSpPr txBox="1"/>
          <p:nvPr/>
        </p:nvSpPr>
        <p:spPr>
          <a:xfrm>
            <a:off x="701200" y="135175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Methods</a:t>
            </a: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i="1" sz="3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90" name="Google Shape;390;p49" title="Screenshot 2026-05-06 at 6.18.32 PM.png"/>
          <p:cNvPicPr preferRelativeResize="0"/>
          <p:nvPr/>
        </p:nvPicPr>
        <p:blipFill rotWithShape="1">
          <a:blip r:embed="rId3">
            <a:alphaModFix/>
          </a:blip>
          <a:srcRect b="8151" l="0" r="0" t="15455"/>
          <a:stretch/>
        </p:blipFill>
        <p:spPr>
          <a:xfrm>
            <a:off x="583963" y="716687"/>
            <a:ext cx="7976064" cy="39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396" name="Google Shape;396;p50"/>
          <p:cNvSpPr txBox="1"/>
          <p:nvPr/>
        </p:nvSpPr>
        <p:spPr>
          <a:xfrm>
            <a:off x="6598575" y="2064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i="1" sz="3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397" name="Google Shape;397;p50"/>
          <p:cNvGraphicFramePr/>
          <p:nvPr/>
        </p:nvGraphicFramePr>
        <p:xfrm>
          <a:off x="648850" y="46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{4D9C3F20-1CF7-47F8-8A8A-180353A31B70}</a:tableStyleId>
              </a:tblPr>
              <a:tblGrid>
                <a:gridCol w="1618375"/>
                <a:gridCol w="2162600"/>
                <a:gridCol w="0"/>
              </a:tblGrid>
              <a:tr h="161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n(%) (n= number of articles that contain information regarding the category, % = percentage of articles out of 15 total)</a:t>
                      </a:r>
                      <a:endParaRPr sz="16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 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D9D9D9"/>
                    </a:solidFill>
                  </a:tcPr>
                </a:tc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York City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6(40</a:t>
                      </a: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2, 7, 8, 9, 15, 18,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Delhi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5(33.33%)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4, 6, 11, 16, 17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Rio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4(26.67%)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1, 3, 10, 14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398" name="Google Shape;398;p50"/>
          <p:cNvGraphicFramePr/>
          <p:nvPr/>
        </p:nvGraphicFramePr>
        <p:xfrm>
          <a:off x="4572000" y="849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{4D9C3F20-1CF7-47F8-8A8A-180353A31B70}</a:tableStyleId>
              </a:tblPr>
              <a:tblGrid>
                <a:gridCol w="1618375"/>
                <a:gridCol w="2162600"/>
                <a:gridCol w="0"/>
              </a:tblGrid>
              <a:tr h="3043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Exposures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D9D9D9"/>
                    </a:solidFill>
                  </a:tcPr>
                </a:tc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PM</a:t>
                      </a:r>
                      <a:r>
                        <a:rPr baseline="-25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8(53.33%)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1, 2, 4, 6, 8, 10, 11, 20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6(40%)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1, 3, 4, 10, 17, 20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PM</a:t>
                      </a:r>
                      <a:r>
                        <a:rPr baseline="-25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6(40%)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3, 4, 6, 11, 14, 16, 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r>
                        <a:rPr baseline="-25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5(33.33%)</a:t>
                      </a:r>
                      <a:r>
                        <a:rPr baseline="30000" lang="en" sz="1800">
                          <a:solidFill>
                            <a:srgbClr val="1B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1, 3, 8, 17</a:t>
                      </a:r>
                      <a:endParaRPr baseline="30000" sz="1800">
                        <a:solidFill>
                          <a:srgbClr val="1B1B1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404" name="Google Shape;404;p51"/>
          <p:cNvSpPr txBox="1"/>
          <p:nvPr/>
        </p:nvSpPr>
        <p:spPr>
          <a:xfrm>
            <a:off x="758725" y="343575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  <a:endParaRPr i="1" sz="3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05" name="Google Shape;405;p51" title="Screenshot 2026-05-06 17463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150" y="933500"/>
            <a:ext cx="6679700" cy="384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1" title="Screenshot 2026-05-04 1004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225" y="1172000"/>
            <a:ext cx="367925" cy="33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1" title="Screenshot 2026-05-04 1004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1850" y="1272825"/>
            <a:ext cx="5810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413" name="Google Shape;413;p52"/>
          <p:cNvSpPr txBox="1"/>
          <p:nvPr/>
        </p:nvSpPr>
        <p:spPr>
          <a:xfrm>
            <a:off x="767475" y="4223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i="1" sz="3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4" name="Google Shape;414;p52"/>
          <p:cNvSpPr txBox="1"/>
          <p:nvPr/>
        </p:nvSpPr>
        <p:spPr>
          <a:xfrm>
            <a:off x="373050" y="1321375"/>
            <a:ext cx="8397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prevalent city in literature: New York City (6 articles)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prevalent pollutant studied in literature: PM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(8 articles)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with the most associations found between pollutants and negative health outcomes: Delhi (13 associations)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Pollutant with most association to negative health outcomes: PM</a:t>
            </a:r>
            <a:r>
              <a:rPr baseline="-25000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 associations)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 prevalent city in literature: Rio (4 articles)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with least associations found between pollutants and negative health outcomes: Rio (5 associations)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53"/>
          <p:cNvSpPr txBox="1"/>
          <p:nvPr/>
        </p:nvSpPr>
        <p:spPr>
          <a:xfrm>
            <a:off x="767475" y="4223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r>
              <a:rPr i="1" lang="en" sz="3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i="1" sz="3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1" name="Google Shape;421;p53"/>
          <p:cNvSpPr txBox="1"/>
          <p:nvPr>
            <p:ph idx="1" type="subTitle"/>
          </p:nvPr>
        </p:nvSpPr>
        <p:spPr>
          <a:xfrm>
            <a:off x="431350" y="1321375"/>
            <a:ext cx="1337400" cy="2468700"/>
          </a:xfrm>
          <a:prstGeom prst="rect">
            <a:avLst/>
          </a:prstGeom>
          <a:solidFill>
            <a:srgbClr val="A4C2F4"/>
          </a:solidFill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Uneven geographic distribution of research (NYC &gt; Delhi &gt; Rio).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53"/>
          <p:cNvSpPr txBox="1"/>
          <p:nvPr>
            <p:ph idx="2" type="subTitle"/>
          </p:nvPr>
        </p:nvSpPr>
        <p:spPr>
          <a:xfrm>
            <a:off x="2167325" y="1321299"/>
            <a:ext cx="1337400" cy="2468700"/>
          </a:xfrm>
          <a:prstGeom prst="rect">
            <a:avLst/>
          </a:prstGeom>
          <a:solidFill>
            <a:srgbClr val="FFE599"/>
          </a:solidFill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E59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PM2.5 is the most studied pollutant and shows strongest association with outcomes.</a:t>
            </a:r>
            <a:endParaRPr sz="1800">
              <a:highlight>
                <a:srgbClr val="FFE59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53"/>
          <p:cNvSpPr txBox="1"/>
          <p:nvPr>
            <p:ph idx="3" type="subTitle"/>
          </p:nvPr>
        </p:nvSpPr>
        <p:spPr>
          <a:xfrm>
            <a:off x="3907975" y="1321375"/>
            <a:ext cx="1337400" cy="2468700"/>
          </a:xfrm>
          <a:prstGeom prst="rect">
            <a:avLst/>
          </a:prstGeom>
          <a:solidFill>
            <a:srgbClr val="D9D9D9"/>
          </a:solidFill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D9D9D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Lack of significant PM2.5 findings in Rio suggests possible research gap.</a:t>
            </a:r>
            <a:endParaRPr sz="1800">
              <a:highlight>
                <a:srgbClr val="D9D9D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53"/>
          <p:cNvSpPr txBox="1"/>
          <p:nvPr>
            <p:ph idx="4" type="subTitle"/>
          </p:nvPr>
        </p:nvSpPr>
        <p:spPr>
          <a:xfrm>
            <a:off x="5646650" y="1321301"/>
            <a:ext cx="1337400" cy="2468700"/>
          </a:xfrm>
          <a:prstGeom prst="rect">
            <a:avLst/>
          </a:prstGeom>
          <a:solidFill>
            <a:srgbClr val="A4C2F4"/>
          </a:solidFill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A4C2F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Public health would be advanced from further research.</a:t>
            </a:r>
            <a:endParaRPr sz="1800">
              <a:highlight>
                <a:srgbClr val="A4C2F4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53"/>
          <p:cNvSpPr txBox="1"/>
          <p:nvPr>
            <p:ph idx="5" type="subTitle"/>
          </p:nvPr>
        </p:nvSpPr>
        <p:spPr>
          <a:xfrm>
            <a:off x="7385325" y="1321301"/>
            <a:ext cx="1337400" cy="2468700"/>
          </a:xfrm>
          <a:prstGeom prst="rect">
            <a:avLst/>
          </a:prstGeom>
          <a:solidFill>
            <a:srgbClr val="FFE599"/>
          </a:solidFill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E59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Future work should include VOCs and dust as additional exposures in search.</a:t>
            </a:r>
            <a:endParaRPr sz="1800">
              <a:highlight>
                <a:srgbClr val="FFE59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53"/>
          <p:cNvSpPr/>
          <p:nvPr/>
        </p:nvSpPr>
        <p:spPr>
          <a:xfrm>
            <a:off x="906900" y="3895725"/>
            <a:ext cx="3714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7" name="Google Shape;427;p53"/>
          <p:cNvSpPr/>
          <p:nvPr/>
        </p:nvSpPr>
        <p:spPr>
          <a:xfrm>
            <a:off x="2650325" y="3895725"/>
            <a:ext cx="3714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8" name="Google Shape;428;p53"/>
          <p:cNvSpPr/>
          <p:nvPr/>
        </p:nvSpPr>
        <p:spPr>
          <a:xfrm>
            <a:off x="4301250" y="3895725"/>
            <a:ext cx="3714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9" name="Google Shape;429;p53"/>
          <p:cNvSpPr/>
          <p:nvPr/>
        </p:nvSpPr>
        <p:spPr>
          <a:xfrm>
            <a:off x="5999800" y="3895725"/>
            <a:ext cx="3714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0" name="Google Shape;430;p53"/>
          <p:cNvSpPr/>
          <p:nvPr/>
        </p:nvSpPr>
        <p:spPr>
          <a:xfrm>
            <a:off x="7868325" y="3895725"/>
            <a:ext cx="3714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 sz="1800"/>
          </a:p>
        </p:txBody>
      </p:sp>
      <p:sp>
        <p:nvSpPr>
          <p:cNvPr id="436" name="Google Shape;436;p54"/>
          <p:cNvSpPr txBox="1"/>
          <p:nvPr/>
        </p:nvSpPr>
        <p:spPr>
          <a:xfrm>
            <a:off x="4962125" y="4230900"/>
            <a:ext cx="5539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i="1" sz="3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54"/>
          <p:cNvSpPr txBox="1"/>
          <p:nvPr/>
        </p:nvSpPr>
        <p:spPr>
          <a:xfrm>
            <a:off x="640950" y="382800"/>
            <a:ext cx="7862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3050" lvl="0" marL="914400" marR="381000" rtl="0" algn="l"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Kelkar, H., Sharma, A. K. &amp; Chaturvedi, S. Association of air pollution and lung function of young adult females in New Delhi. Journal of Health and Pollution 9, 190611 (2019).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Kim, H. &amp; Bell, M. L. Air pollution and COVID-19 mortality in New York City. American Journal of Respiratory and Critical Care Medicine 204, 97–99 (2021).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Costa, A. F., Hoek, G., Brunekreef, B. &amp; De Leon, A. C. M. P. Air Pollution and Deaths among Elderly Residents of São Paulo, Brazil: An Analysis of Mortality Displacement. Environmental Health Perspectives 125, 349–354 (2016).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Kumar, R. et al. Air pollution and its effects on emergency room visits in tertiary respiratory care centres in Delhi, India. Monaldi Archives for Chest Disease 94, (2023).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Health Organization: WHO. Ambient (outdoor) air pollution. https://www.who.int/news-room/fact-sheets/detail/ambient-(outdoor)-air-quality-and-health (2024).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Salvi, S. S. et al. Association between air pollution, body mass index, respiratory symptoms, and asthma among adolescent school children living in Delhi, India. Lung India 38, 408–415 (2021).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Kwon, S. et al. Blood eosinophils and World Trade Center Exposure predict surgery in chronic rhinosinusitis. a 13.5-Year longitudinal study. Annals of the American Thoracic Society 13, 1253–1261 (2016).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Feathers, A. et al. Crohn’s Disease mortality and ambient air pollution in New York City. Inflammatory Bowel Diseases 30, 1732–1739 (2023).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Madani, N. A., Jones, L. E. &amp; Carpenter, D. O. Different volatile organic compounds in local point source air pollution pose distinctive elevated risks for respiratory disease-associated emergency room visits. Chemosphere 344, 140403 (2023).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Kuschnir, F. C. &amp; Da Cunha, A. J. L. A. Environmental and socio‐demographic factors associated to asthma in adolescents in Rio de Janeiro, Brazil. Pediatric Allergy and Immunology 18, 142–148 (2006).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Dutta, A. &amp; Jinsart, W. Air pollution in Delhi, India: It’s status and association with respiratory diseases. PLoS ONE 17, e0274444 (2022).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Al-Aly, Z. et al. Long COVID science, research and policy. Nature Medicine 30, 2148–2164 (2024).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by country (2026) - Worldometer. Worldometer https://www.worldometers.info/world-population/population-by-country/.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Cortes, T. R., Silveira, I. H., De Oliveira, B. F. A., Bell, M. L. &amp; Junger, W. L. Short-term association between ambient air pollution and cardio-respiratory mortality in Rio de Janeiro, Brazil. PLoS ONE 18, e0281499 (2023).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Mananga, E. S., Lopez, E., Diop, A., Dongomale, P. J. &amp; Diane, F. The impact of the air pollution on health in New York City. Journal of Public Health Research 12, 22799036231205870 (2023).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Romieu, I. et al. Multicity study of air pollution and mortality in Latin America (the ESCALA study). Res Rep Health Eff Inst 5–86 (2012).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Aneja, V. P. et al. Measurements and analysis of criteria pollutants in New Delhi, India. Environment International 27, 35–42 (2001).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Antao, V. et al. 9/11 Residential Exposures: The impact of World Trade Center dust on respiratory outcomes of Lower Manhattan residents. International Journal of Environmental Research and Public Health 16, 798 (2019).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B. F. A. de, Ignotti, E. &amp; Hacon, S. S. A systematic review of the physical and chemical characteristics of pollutants from biomass burning and combustion of fossil fuels and health effects in Brazil. Cad. Saúde Pública 27, 1678–1698 (2011)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914400" marR="38100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700"/>
              <a:buFont typeface="Times New Roman"/>
              <a:buAutoNum type="arabicPeriod"/>
            </a:pPr>
            <a:r>
              <a:rPr lang="en" sz="7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Titus, A. R. et al. A matched analysis of the association between federally mandated Smoke-Free housing policies and health outcomes among Medicaid-Enrolled children in subsidized Housing, New York City, 2015–2019. American Journal of Epidemiology 192, 25–33 (2022).</a:t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00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1800"/>
              <a:t>‹#›</a:t>
            </a:fld>
            <a:endParaRPr sz="1800"/>
          </a:p>
        </p:txBody>
      </p:sp>
      <p:sp>
        <p:nvSpPr>
          <p:cNvPr id="443" name="Google Shape;443;p55"/>
          <p:cNvSpPr txBox="1"/>
          <p:nvPr/>
        </p:nvSpPr>
        <p:spPr>
          <a:xfrm>
            <a:off x="3558150" y="2060550"/>
            <a:ext cx="2027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 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