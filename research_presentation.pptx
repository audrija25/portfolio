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DM Sans Medium"/>
      <p:regular r:id="rId30"/>
      <p:bold r:id="rId31"/>
      <p:italic r:id="rId32"/>
      <p:boldItalic r:id="rId33"/>
    </p:embeddedFont>
    <p:embeddedFont>
      <p:font typeface="Assistant Medium"/>
      <p:regular r:id="rId34"/>
      <p:bold r:id="rId35"/>
    </p:embeddedFont>
    <p:embeddedFont>
      <p:font typeface="Merriweather"/>
      <p:regular r:id="rId36"/>
      <p:bold r:id="rId37"/>
      <p:italic r:id="rId38"/>
      <p:boldItalic r:id="rId39"/>
    </p:embeddedFont>
    <p:embeddedFont>
      <p:font typeface="DM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4040C1-71AD-44E9-963E-F1282BABF5D8}">
  <a:tblStyle styleId="{DA4040C1-71AD-44E9-963E-F1282BABF5D8}"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9E21B19-FEE4-4379-8420-1124A6005D4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regular.fntdata"/><Relationship Id="rId20" Type="http://schemas.openxmlformats.org/officeDocument/2006/relationships/slide" Target="slides/slide14.xml"/><Relationship Id="rId42" Type="http://schemas.openxmlformats.org/officeDocument/2006/relationships/font" Target="fonts/DMSans-italic.fntdata"/><Relationship Id="rId41" Type="http://schemas.openxmlformats.org/officeDocument/2006/relationships/font" Target="fonts/DMSans-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DM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Medium-bold.fntdata"/><Relationship Id="rId30" Type="http://schemas.openxmlformats.org/officeDocument/2006/relationships/font" Target="fonts/DMSansMedium-regular.fntdata"/><Relationship Id="rId11" Type="http://schemas.openxmlformats.org/officeDocument/2006/relationships/slide" Target="slides/slide5.xml"/><Relationship Id="rId33" Type="http://schemas.openxmlformats.org/officeDocument/2006/relationships/font" Target="fonts/DMSansMedium-boldItalic.fntdata"/><Relationship Id="rId10" Type="http://schemas.openxmlformats.org/officeDocument/2006/relationships/slide" Target="slides/slide4.xml"/><Relationship Id="rId32" Type="http://schemas.openxmlformats.org/officeDocument/2006/relationships/font" Target="fonts/DMSansMedium-italic.fntdata"/><Relationship Id="rId13" Type="http://schemas.openxmlformats.org/officeDocument/2006/relationships/slide" Target="slides/slide7.xml"/><Relationship Id="rId35" Type="http://schemas.openxmlformats.org/officeDocument/2006/relationships/font" Target="fonts/AssistantMedium-bold.fntdata"/><Relationship Id="rId12" Type="http://schemas.openxmlformats.org/officeDocument/2006/relationships/slide" Target="slides/slide6.xml"/><Relationship Id="rId34" Type="http://schemas.openxmlformats.org/officeDocument/2006/relationships/font" Target="fonts/AssistantMedium-regular.fntdata"/><Relationship Id="rId15" Type="http://schemas.openxmlformats.org/officeDocument/2006/relationships/slide" Target="slides/slide9.xml"/><Relationship Id="rId37" Type="http://schemas.openxmlformats.org/officeDocument/2006/relationships/font" Target="fonts/Merriweather-bold.fntdata"/><Relationship Id="rId14" Type="http://schemas.openxmlformats.org/officeDocument/2006/relationships/slide" Target="slides/slide8.xml"/><Relationship Id="rId36" Type="http://schemas.openxmlformats.org/officeDocument/2006/relationships/font" Target="fonts/Merriweather-regular.fntdata"/><Relationship Id="rId17" Type="http://schemas.openxmlformats.org/officeDocument/2006/relationships/slide" Target="slides/slide11.xml"/><Relationship Id="rId39" Type="http://schemas.openxmlformats.org/officeDocument/2006/relationships/font" Target="fonts/Merriweather-boldItalic.fntdata"/><Relationship Id="rId16" Type="http://schemas.openxmlformats.org/officeDocument/2006/relationships/slide" Target="slides/slide10.xml"/><Relationship Id="rId38" Type="http://schemas.openxmlformats.org/officeDocument/2006/relationships/font" Target="fonts/Merriweath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6313ee0c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6313ee0c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5f40e8feb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5f40e8fe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6313ee0cb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6313ee0cb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d6313ee0cb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d6313ee0cb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5f40e8feb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5f40e8feb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8230736b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d8230736b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82b32d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d82b32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7612d339a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7612d339a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8230736b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8230736b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5f40e8feb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d5f40e8feb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6313ee0c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d6313ee0c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75667802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d75667802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7612d339a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d7612d339a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7612d339a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d7612d339a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7612d339a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d7612d339a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5f40e8feb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5f40e8feb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d6313ee0c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d6313ee0c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8230736b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d8230736b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8230736b3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8230736b3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8230736b3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8230736b3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8230736b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d8230736b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d8230736b3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d8230736b3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d8230736b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d8230736b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33" name="Google Shape;133;p2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34" name="Google Shape;134;p2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5" name="Google Shape;135;p23"/>
          <p:cNvSpPr/>
          <p:nvPr>
            <p:ph idx="3" type="pic"/>
          </p:nvPr>
        </p:nvSpPr>
        <p:spPr>
          <a:xfrm>
            <a:off x="4437578" y="2171250"/>
            <a:ext cx="4509600" cy="2775600"/>
          </a:xfrm>
          <a:prstGeom prst="round2DiagRect">
            <a:avLst>
              <a:gd fmla="val 16667" name="adj1"/>
              <a:gd fmla="val 0" name="adj2"/>
            </a:avLst>
          </a:prstGeom>
          <a:noFill/>
          <a:ln>
            <a:noFill/>
          </a:ln>
        </p:spPr>
      </p:sp>
      <p:sp>
        <p:nvSpPr>
          <p:cNvPr id="136" name="Google Shape;136;p2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37" name="Shape 137"/>
        <p:cNvGrpSpPr/>
        <p:nvPr/>
      </p:nvGrpSpPr>
      <p:grpSpPr>
        <a:xfrm>
          <a:off x="0" y="0"/>
          <a:ext cx="0" cy="0"/>
          <a:chOff x="0" y="0"/>
          <a:chExt cx="0" cy="0"/>
        </a:xfrm>
      </p:grpSpPr>
      <p:sp>
        <p:nvSpPr>
          <p:cNvPr id="138" name="Google Shape;138;p2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2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4" name="Google Shape;144;p2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45" name="Google Shape;145;p2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49" name="Google Shape;149;p2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50" name="Google Shape;150;p2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54" name="Google Shape;154;p2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55" name="Google Shape;155;p2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156" name="Shape 156"/>
        <p:cNvGrpSpPr/>
        <p:nvPr/>
      </p:nvGrpSpPr>
      <p:grpSpPr>
        <a:xfrm>
          <a:off x="0" y="0"/>
          <a:ext cx="0" cy="0"/>
          <a:chOff x="0" y="0"/>
          <a:chExt cx="0" cy="0"/>
        </a:xfrm>
      </p:grpSpPr>
      <p:sp>
        <p:nvSpPr>
          <p:cNvPr id="157" name="Google Shape;157;p2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2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27"/>
          <p:cNvSpPr/>
          <p:nvPr>
            <p:ph idx="2" type="pic"/>
          </p:nvPr>
        </p:nvSpPr>
        <p:spPr>
          <a:xfrm>
            <a:off x="3726325" y="669925"/>
            <a:ext cx="5220900" cy="4276800"/>
          </a:xfrm>
          <a:prstGeom prst="round2DiagRect">
            <a:avLst>
              <a:gd fmla="val 16667" name="adj1"/>
              <a:gd fmla="val 0" name="adj2"/>
            </a:avLst>
          </a:prstGeom>
          <a:noFill/>
          <a:ln>
            <a:noFill/>
          </a:ln>
        </p:spPr>
      </p:sp>
      <p:sp>
        <p:nvSpPr>
          <p:cNvPr id="161" name="Google Shape;161;p2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62" name="Google Shape;162;p2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63" name="Shape 163"/>
        <p:cNvGrpSpPr/>
        <p:nvPr/>
      </p:nvGrpSpPr>
      <p:grpSpPr>
        <a:xfrm>
          <a:off x="0" y="0"/>
          <a:ext cx="0" cy="0"/>
          <a:chOff x="0" y="0"/>
          <a:chExt cx="0" cy="0"/>
        </a:xfrm>
      </p:grpSpPr>
      <p:sp>
        <p:nvSpPr>
          <p:cNvPr id="164" name="Google Shape;164;p2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165" name="Google Shape;165;p2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p:nvPr>
            <p:ph idx="2" type="pic"/>
          </p:nvPr>
        </p:nvSpPr>
        <p:spPr>
          <a:xfrm>
            <a:off x="3726325" y="669925"/>
            <a:ext cx="5220900" cy="4276800"/>
          </a:xfrm>
          <a:prstGeom prst="round2DiagRect">
            <a:avLst>
              <a:gd fmla="val 16667" name="adj1"/>
              <a:gd fmla="val 0" name="adj2"/>
            </a:avLst>
          </a:prstGeom>
          <a:noFill/>
          <a:ln>
            <a:noFill/>
          </a:ln>
        </p:spPr>
      </p:sp>
      <p:sp>
        <p:nvSpPr>
          <p:cNvPr id="168" name="Google Shape;168;p2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69" name="Google Shape;169;p2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170" name="Google Shape;170;p2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1" name="Shape 171"/>
        <p:cNvGrpSpPr/>
        <p:nvPr/>
      </p:nvGrpSpPr>
      <p:grpSpPr>
        <a:xfrm>
          <a:off x="0" y="0"/>
          <a:ext cx="0" cy="0"/>
          <a:chOff x="0" y="0"/>
          <a:chExt cx="0" cy="0"/>
        </a:xfrm>
      </p:grpSpPr>
      <p:sp>
        <p:nvSpPr>
          <p:cNvPr id="172" name="Google Shape;172;p2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175" name="Google Shape;175;p2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176" name="Google Shape;176;p2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77" name="Google Shape;177;p2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78" name="Shape 178"/>
        <p:cNvGrpSpPr/>
        <p:nvPr/>
      </p:nvGrpSpPr>
      <p:grpSpPr>
        <a:xfrm>
          <a:off x="0" y="0"/>
          <a:ext cx="0" cy="0"/>
          <a:chOff x="0" y="0"/>
          <a:chExt cx="0" cy="0"/>
        </a:xfrm>
      </p:grpSpPr>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1" name="Google Shape;181;p3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2" name="Google Shape;182;p3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3" name="Google Shape;183;p3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4" name="Google Shape;184;p3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5" name="Google Shape;185;p3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6" name="Google Shape;186;p3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7" name="Google Shape;187;p3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8" name="Google Shape;188;p3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9" name="Google Shape;189;p3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0" name="Google Shape;190;p3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1" name="Google Shape;191;p3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2" name="Google Shape;192;p3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3" name="Google Shape;193;p3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4" name="Google Shape;194;p3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5" name="Google Shape;195;p3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6" name="Google Shape;196;p3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7" name="Google Shape;197;p3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8" name="Google Shape;198;p3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9" name="Google Shape;199;p3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0" name="Google Shape;200;p3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1" name="Google Shape;201;p3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2" name="Google Shape;202;p3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3" name="Google Shape;203;p3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4" name="Google Shape;204;p3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5" name="Google Shape;205;p3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6" name="Google Shape;206;p3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7" name="Google Shape;207;p3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8" name="Google Shape;208;p3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12" name="Google Shape;212;p3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2.xml"/><Relationship Id="rId3" Type="http://schemas.openxmlformats.org/officeDocument/2006/relationships/hyperlink" Target="https://www.zotero.org/google-docs/?RJ7eKG" TargetMode="External"/><Relationship Id="rId4" Type="http://schemas.openxmlformats.org/officeDocument/2006/relationships/hyperlink" Target="https://www.zotero.org/google-docs/?RJ7eKG" TargetMode="External"/><Relationship Id="rId5" Type="http://schemas.openxmlformats.org/officeDocument/2006/relationships/hyperlink" Target="https://pubmed.ncbi.nlm.nih.gov/35571951/" TargetMode="External"/><Relationship Id="rId6" Type="http://schemas.openxmlformats.org/officeDocument/2006/relationships/hyperlink" Target="https://doi.org/10.1016/j.eatbeh.2018.05.00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idx="4" type="body"/>
          </p:nvPr>
        </p:nvSpPr>
        <p:spPr>
          <a:xfrm>
            <a:off x="8235476" y="91900"/>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04.21.26</a:t>
            </a:r>
            <a:endParaRPr/>
          </a:p>
        </p:txBody>
      </p:sp>
      <p:sp>
        <p:nvSpPr>
          <p:cNvPr id="218" name="Google Shape;218;p32"/>
          <p:cNvSpPr txBox="1"/>
          <p:nvPr>
            <p:ph type="ctrTitle"/>
          </p:nvPr>
        </p:nvSpPr>
        <p:spPr>
          <a:xfrm>
            <a:off x="196950" y="196725"/>
            <a:ext cx="8750100" cy="177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50"/>
              <a:t>On-Campus Dining </a:t>
            </a:r>
            <a:r>
              <a:rPr lang="en" sz="3750"/>
              <a:t>Frequency </a:t>
            </a:r>
            <a:endParaRPr sz="3750"/>
          </a:p>
          <a:p>
            <a:pPr indent="0" lvl="0" marL="0" rtl="0" algn="l">
              <a:spcBef>
                <a:spcPts val="0"/>
              </a:spcBef>
              <a:spcAft>
                <a:spcPts val="0"/>
              </a:spcAft>
              <a:buNone/>
            </a:pPr>
            <a:r>
              <a:rPr lang="en" sz="3750"/>
              <a:t>and Vegetable Consumption Among UNC Undergraduate Students</a:t>
            </a:r>
            <a:endParaRPr sz="3750"/>
          </a:p>
        </p:txBody>
      </p:sp>
      <p:sp>
        <p:nvSpPr>
          <p:cNvPr id="219" name="Google Shape;219;p32"/>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Audrija Bhattacharya, </a:t>
            </a:r>
            <a:r>
              <a:rPr lang="en"/>
              <a:t>Mackenzie Connaughton, Isabella Larson, Riley Logan</a:t>
            </a:r>
            <a:endParaRPr/>
          </a:p>
        </p:txBody>
      </p:sp>
      <p:sp>
        <p:nvSpPr>
          <p:cNvPr id="220" name="Google Shape;220;p32"/>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Epid 600</a:t>
            </a:r>
            <a:endParaRPr/>
          </a:p>
        </p:txBody>
      </p:sp>
      <p:pic>
        <p:nvPicPr>
          <p:cNvPr id="221" name="Google Shape;221;p32" title="0fb790bd-5a61-48bd-9a7c-5c7888d7b3bf.sized-1000x1000.jpeg"/>
          <p:cNvPicPr preferRelativeResize="0"/>
          <p:nvPr>
            <p:ph idx="3" type="pic"/>
          </p:nvPr>
        </p:nvPicPr>
        <p:blipFill rotWithShape="1">
          <a:blip r:embed="rId3">
            <a:alphaModFix/>
          </a:blip>
          <a:srcRect b="8962" l="0" r="0" t="8970"/>
          <a:stretch/>
        </p:blipFill>
        <p:spPr>
          <a:xfrm>
            <a:off x="4437578" y="2171250"/>
            <a:ext cx="4509600" cy="2775600"/>
          </a:xfrm>
          <a:prstGeom prst="round2DiagRect">
            <a:avLst>
              <a:gd fmla="val 16667" name="adj1"/>
              <a:gd fmla="val 0" name="adj2"/>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Agenda</a:t>
            </a:r>
            <a:endParaRPr/>
          </a:p>
        </p:txBody>
      </p:sp>
      <p:sp>
        <p:nvSpPr>
          <p:cNvPr id="228" name="Google Shape;228;p3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229" name="Google Shape;229;p33"/>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Introduction</a:t>
            </a:r>
            <a:endParaRPr b="1" sz="3650">
              <a:solidFill>
                <a:schemeClr val="dk1"/>
              </a:solidFill>
              <a:latin typeface="Merriweather"/>
              <a:ea typeface="Merriweather"/>
              <a:cs typeface="Merriweather"/>
              <a:sym typeface="Merriweather"/>
            </a:endParaRPr>
          </a:p>
        </p:txBody>
      </p:sp>
      <p:sp>
        <p:nvSpPr>
          <p:cNvPr id="230" name="Google Shape;230;p33"/>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Methods</a:t>
            </a:r>
            <a:endParaRPr b="1" sz="3650">
              <a:solidFill>
                <a:schemeClr val="accent2"/>
              </a:solidFill>
              <a:latin typeface="Merriweather"/>
              <a:ea typeface="Merriweather"/>
              <a:cs typeface="Merriweather"/>
              <a:sym typeface="Merriweather"/>
            </a:endParaRPr>
          </a:p>
        </p:txBody>
      </p:sp>
      <p:sp>
        <p:nvSpPr>
          <p:cNvPr id="231" name="Google Shape;231;p33"/>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Results</a:t>
            </a:r>
            <a:endParaRPr b="1" sz="3650">
              <a:solidFill>
                <a:schemeClr val="accent2"/>
              </a:solidFill>
              <a:latin typeface="Merriweather"/>
              <a:ea typeface="Merriweather"/>
              <a:cs typeface="Merriweather"/>
              <a:sym typeface="Merriweather"/>
            </a:endParaRPr>
          </a:p>
        </p:txBody>
      </p:sp>
      <p:sp>
        <p:nvSpPr>
          <p:cNvPr id="232" name="Google Shape;232;p33"/>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Discussion</a:t>
            </a:r>
            <a:endParaRPr b="1" sz="3650">
              <a:solidFill>
                <a:schemeClr val="accent2"/>
              </a:solidFill>
              <a:latin typeface="Merriweather"/>
              <a:ea typeface="Merriweather"/>
              <a:cs typeface="Merriweather"/>
              <a:sym typeface="Merriweather"/>
            </a:endParaRPr>
          </a:p>
        </p:txBody>
      </p:sp>
      <p:sp>
        <p:nvSpPr>
          <p:cNvPr id="233" name="Google Shape;233;p33"/>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1.</a:t>
            </a:r>
            <a:endParaRPr b="1" sz="1450">
              <a:solidFill>
                <a:schemeClr val="dk1"/>
              </a:solidFill>
              <a:latin typeface="Merriweather"/>
              <a:ea typeface="Merriweather"/>
              <a:cs typeface="Merriweather"/>
              <a:sym typeface="Merriweather"/>
            </a:endParaRPr>
          </a:p>
        </p:txBody>
      </p:sp>
      <p:sp>
        <p:nvSpPr>
          <p:cNvPr id="234" name="Google Shape;234;p33"/>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235" name="Google Shape;235;p33"/>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236" name="Google Shape;236;p33"/>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Introduction</a:t>
            </a:r>
            <a:endParaRPr/>
          </a:p>
        </p:txBody>
      </p:sp>
      <p:sp>
        <p:nvSpPr>
          <p:cNvPr id="243" name="Google Shape;243;p34"/>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244" name="Google Shape;244;p34"/>
          <p:cNvSpPr txBox="1"/>
          <p:nvPr/>
        </p:nvSpPr>
        <p:spPr>
          <a:xfrm>
            <a:off x="196950" y="549425"/>
            <a:ext cx="79752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Study Overview &amp; Importance</a:t>
            </a:r>
            <a:endParaRPr b="1" sz="3650">
              <a:solidFill>
                <a:schemeClr val="dk1"/>
              </a:solidFill>
              <a:latin typeface="Merriweather"/>
              <a:ea typeface="Merriweather"/>
              <a:cs typeface="Merriweather"/>
              <a:sym typeface="Merriweather"/>
            </a:endParaRPr>
          </a:p>
        </p:txBody>
      </p:sp>
      <p:sp>
        <p:nvSpPr>
          <p:cNvPr id="245" name="Google Shape;245;p34"/>
          <p:cNvSpPr/>
          <p:nvPr/>
        </p:nvSpPr>
        <p:spPr>
          <a:xfrm>
            <a:off x="312000" y="1262450"/>
            <a:ext cx="8520000" cy="68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46" name="Google Shape;246;p34"/>
          <p:cNvSpPr txBox="1"/>
          <p:nvPr/>
        </p:nvSpPr>
        <p:spPr>
          <a:xfrm>
            <a:off x="400475" y="1241197"/>
            <a:ext cx="8323500" cy="68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50">
                <a:solidFill>
                  <a:schemeClr val="dk2"/>
                </a:solidFill>
                <a:latin typeface="DM Sans"/>
                <a:ea typeface="DM Sans"/>
                <a:cs typeface="DM Sans"/>
                <a:sym typeface="DM Sans"/>
              </a:rPr>
              <a:t>We surveyed UNC undergraduates to examine whether eating at campus dining halls is associated with adequate vegetable consumption</a:t>
            </a:r>
            <a:endParaRPr b="1" sz="1650">
              <a:solidFill>
                <a:schemeClr val="dk2"/>
              </a:solidFill>
              <a:latin typeface="DM Sans"/>
              <a:ea typeface="DM Sans"/>
              <a:cs typeface="DM Sans"/>
              <a:sym typeface="DM Sans"/>
            </a:endParaRPr>
          </a:p>
        </p:txBody>
      </p:sp>
      <p:sp>
        <p:nvSpPr>
          <p:cNvPr id="247" name="Google Shape;247;p34"/>
          <p:cNvSpPr/>
          <p:nvPr/>
        </p:nvSpPr>
        <p:spPr>
          <a:xfrm>
            <a:off x="580000" y="2460375"/>
            <a:ext cx="1860300" cy="220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48" name="Google Shape;248;p34"/>
          <p:cNvSpPr/>
          <p:nvPr/>
        </p:nvSpPr>
        <p:spPr>
          <a:xfrm>
            <a:off x="1164775" y="2025988"/>
            <a:ext cx="697500" cy="724500"/>
          </a:xfrm>
          <a:prstGeom prst="ellipse">
            <a:avLst/>
          </a:prstGeom>
          <a:solidFill>
            <a:srgbClr val="E9ED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49" name="Google Shape;249;p34"/>
          <p:cNvSpPr/>
          <p:nvPr/>
        </p:nvSpPr>
        <p:spPr>
          <a:xfrm>
            <a:off x="2637400" y="2460375"/>
            <a:ext cx="1860300" cy="220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0" name="Google Shape;250;p34"/>
          <p:cNvSpPr/>
          <p:nvPr/>
        </p:nvSpPr>
        <p:spPr>
          <a:xfrm>
            <a:off x="3222175" y="2025988"/>
            <a:ext cx="697500" cy="724500"/>
          </a:xfrm>
          <a:prstGeom prst="ellipse">
            <a:avLst/>
          </a:prstGeom>
          <a:solidFill>
            <a:srgbClr val="E9ED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1" name="Google Shape;251;p34"/>
          <p:cNvSpPr/>
          <p:nvPr/>
        </p:nvSpPr>
        <p:spPr>
          <a:xfrm>
            <a:off x="4649450" y="2460375"/>
            <a:ext cx="1860300" cy="220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2" name="Google Shape;252;p34"/>
          <p:cNvSpPr/>
          <p:nvPr/>
        </p:nvSpPr>
        <p:spPr>
          <a:xfrm>
            <a:off x="5234213" y="2025988"/>
            <a:ext cx="697500" cy="724500"/>
          </a:xfrm>
          <a:prstGeom prst="ellipse">
            <a:avLst/>
          </a:prstGeom>
          <a:solidFill>
            <a:srgbClr val="E9ED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3" name="Google Shape;253;p34"/>
          <p:cNvSpPr/>
          <p:nvPr/>
        </p:nvSpPr>
        <p:spPr>
          <a:xfrm>
            <a:off x="6684150" y="2460375"/>
            <a:ext cx="1860300" cy="2202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4" name="Google Shape;254;p34"/>
          <p:cNvSpPr/>
          <p:nvPr/>
        </p:nvSpPr>
        <p:spPr>
          <a:xfrm>
            <a:off x="7268925" y="2025988"/>
            <a:ext cx="697500" cy="724500"/>
          </a:xfrm>
          <a:prstGeom prst="ellipse">
            <a:avLst/>
          </a:prstGeom>
          <a:solidFill>
            <a:srgbClr val="E9ED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5" name="Google Shape;255;p34"/>
          <p:cNvSpPr txBox="1"/>
          <p:nvPr/>
        </p:nvSpPr>
        <p:spPr>
          <a:xfrm>
            <a:off x="627775" y="2849475"/>
            <a:ext cx="1812600" cy="169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50">
                <a:solidFill>
                  <a:schemeClr val="dk2"/>
                </a:solidFill>
                <a:latin typeface="DM Sans"/>
                <a:ea typeface="DM Sans"/>
                <a:cs typeface="DM Sans"/>
                <a:sym typeface="DM Sans"/>
              </a:rPr>
              <a:t>Low fiber intake in young people is linked to rising rates of colon cancer</a:t>
            </a:r>
            <a:endParaRPr baseline="30000" sz="1750">
              <a:solidFill>
                <a:schemeClr val="dk2"/>
              </a:solidFill>
              <a:latin typeface="DM Sans"/>
              <a:ea typeface="DM Sans"/>
              <a:cs typeface="DM Sans"/>
              <a:sym typeface="DM Sans"/>
            </a:endParaRPr>
          </a:p>
        </p:txBody>
      </p:sp>
      <p:sp>
        <p:nvSpPr>
          <p:cNvPr id="256" name="Google Shape;256;p34"/>
          <p:cNvSpPr txBox="1"/>
          <p:nvPr/>
        </p:nvSpPr>
        <p:spPr>
          <a:xfrm>
            <a:off x="2637400" y="2849475"/>
            <a:ext cx="1860300" cy="169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50">
                <a:solidFill>
                  <a:schemeClr val="dk2"/>
                </a:solidFill>
                <a:latin typeface="DM Sans"/>
                <a:ea typeface="DM Sans"/>
                <a:cs typeface="DM Sans"/>
                <a:sym typeface="DM Sans"/>
              </a:rPr>
              <a:t>Vegetables are a primary source of dietary fiber</a:t>
            </a:r>
            <a:endParaRPr baseline="30000" sz="1750">
              <a:solidFill>
                <a:schemeClr val="dk2"/>
              </a:solidFill>
              <a:latin typeface="DM Sans"/>
              <a:ea typeface="DM Sans"/>
              <a:cs typeface="DM Sans"/>
              <a:sym typeface="DM Sans"/>
            </a:endParaRPr>
          </a:p>
        </p:txBody>
      </p:sp>
      <p:sp>
        <p:nvSpPr>
          <p:cNvPr id="257" name="Google Shape;257;p34"/>
          <p:cNvSpPr txBox="1"/>
          <p:nvPr/>
        </p:nvSpPr>
        <p:spPr>
          <a:xfrm>
            <a:off x="4649450" y="2849475"/>
            <a:ext cx="1847700" cy="169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50">
                <a:solidFill>
                  <a:schemeClr val="dk2"/>
                </a:solidFill>
                <a:latin typeface="DM Sans"/>
                <a:ea typeface="DM Sans"/>
                <a:cs typeface="DM Sans"/>
                <a:sym typeface="DM Sans"/>
              </a:rPr>
              <a:t>College is a critical window for establishing long-term dietary habits</a:t>
            </a:r>
            <a:endParaRPr baseline="30000" sz="1750">
              <a:solidFill>
                <a:schemeClr val="dk2"/>
              </a:solidFill>
              <a:latin typeface="DM Sans"/>
              <a:ea typeface="DM Sans"/>
              <a:cs typeface="DM Sans"/>
              <a:sym typeface="DM Sans"/>
            </a:endParaRPr>
          </a:p>
        </p:txBody>
      </p:sp>
      <p:sp>
        <p:nvSpPr>
          <p:cNvPr id="258" name="Google Shape;258;p34"/>
          <p:cNvSpPr txBox="1"/>
          <p:nvPr/>
        </p:nvSpPr>
        <p:spPr>
          <a:xfrm>
            <a:off x="6684150" y="2849475"/>
            <a:ext cx="1860300" cy="181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50">
                <a:solidFill>
                  <a:schemeClr val="dk2"/>
                </a:solidFill>
                <a:latin typeface="DM Sans"/>
                <a:ea typeface="DM Sans"/>
                <a:cs typeface="DM Sans"/>
                <a:sym typeface="DM Sans"/>
              </a:rPr>
              <a:t>UNC dining halls directly shape what thousands of students eat daily</a:t>
            </a:r>
            <a:endParaRPr baseline="30000" sz="1750">
              <a:solidFill>
                <a:schemeClr val="dk2"/>
              </a:solidFill>
              <a:latin typeface="DM Sans"/>
              <a:ea typeface="DM Sans"/>
              <a:cs typeface="DM Sans"/>
              <a:sym typeface="DM Sans"/>
            </a:endParaRPr>
          </a:p>
        </p:txBody>
      </p:sp>
      <p:pic>
        <p:nvPicPr>
          <p:cNvPr id="259" name="Google Shape;259;p34" title="noun-colon-8191129.png"/>
          <p:cNvPicPr preferRelativeResize="0"/>
          <p:nvPr/>
        </p:nvPicPr>
        <p:blipFill rotWithShape="1">
          <a:blip r:embed="rId3">
            <a:alphaModFix/>
          </a:blip>
          <a:srcRect b="12473" l="0" r="0" t="0"/>
          <a:stretch/>
        </p:blipFill>
        <p:spPr>
          <a:xfrm>
            <a:off x="1185125" y="2118413"/>
            <a:ext cx="656826" cy="574899"/>
          </a:xfrm>
          <a:prstGeom prst="rect">
            <a:avLst/>
          </a:prstGeom>
          <a:noFill/>
          <a:ln>
            <a:noFill/>
          </a:ln>
        </p:spPr>
      </p:pic>
      <p:pic>
        <p:nvPicPr>
          <p:cNvPr id="260" name="Google Shape;260;p34" title="noun-lifestyle-5643796.png"/>
          <p:cNvPicPr preferRelativeResize="0"/>
          <p:nvPr/>
        </p:nvPicPr>
        <p:blipFill rotWithShape="1">
          <a:blip r:embed="rId4">
            <a:alphaModFix/>
          </a:blip>
          <a:srcRect b="17580" l="0" r="0" t="0"/>
          <a:stretch/>
        </p:blipFill>
        <p:spPr>
          <a:xfrm>
            <a:off x="5245550" y="2077112"/>
            <a:ext cx="697499" cy="574899"/>
          </a:xfrm>
          <a:prstGeom prst="rect">
            <a:avLst/>
          </a:prstGeom>
          <a:noFill/>
          <a:ln>
            <a:noFill/>
          </a:ln>
        </p:spPr>
      </p:pic>
      <p:pic>
        <p:nvPicPr>
          <p:cNvPr id="261" name="Google Shape;261;p34" title="noun-dinning-room-5759137.png"/>
          <p:cNvPicPr preferRelativeResize="0"/>
          <p:nvPr/>
        </p:nvPicPr>
        <p:blipFill rotWithShape="1">
          <a:blip r:embed="rId5">
            <a:alphaModFix/>
          </a:blip>
          <a:srcRect b="13771" l="0" r="0" t="0"/>
          <a:stretch/>
        </p:blipFill>
        <p:spPr>
          <a:xfrm>
            <a:off x="7258181" y="2053675"/>
            <a:ext cx="721040" cy="621775"/>
          </a:xfrm>
          <a:prstGeom prst="rect">
            <a:avLst/>
          </a:prstGeom>
          <a:noFill/>
          <a:ln>
            <a:noFill/>
          </a:ln>
        </p:spPr>
      </p:pic>
      <p:pic>
        <p:nvPicPr>
          <p:cNvPr id="262" name="Google Shape;262;p34" title="noun-dietary-fiber-6424466.png"/>
          <p:cNvPicPr preferRelativeResize="0"/>
          <p:nvPr/>
        </p:nvPicPr>
        <p:blipFill rotWithShape="1">
          <a:blip r:embed="rId6">
            <a:alphaModFix/>
          </a:blip>
          <a:srcRect b="12960" l="0" r="0" t="0"/>
          <a:stretch/>
        </p:blipFill>
        <p:spPr>
          <a:xfrm>
            <a:off x="3222175" y="2074453"/>
            <a:ext cx="721051" cy="6275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35"/>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Introduction</a:t>
            </a:r>
            <a:endParaRPr/>
          </a:p>
        </p:txBody>
      </p:sp>
      <p:sp>
        <p:nvSpPr>
          <p:cNvPr id="269" name="Google Shape;269;p35"/>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270" name="Google Shape;270;p35"/>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Study Design &amp; Hypothesis</a:t>
            </a:r>
            <a:endParaRPr b="1" sz="3650">
              <a:solidFill>
                <a:schemeClr val="dk1"/>
              </a:solidFill>
              <a:latin typeface="Merriweather"/>
              <a:ea typeface="Merriweather"/>
              <a:cs typeface="Merriweather"/>
              <a:sym typeface="Merriweather"/>
            </a:endParaRPr>
          </a:p>
        </p:txBody>
      </p:sp>
      <p:sp>
        <p:nvSpPr>
          <p:cNvPr id="271" name="Google Shape;271;p35"/>
          <p:cNvSpPr/>
          <p:nvPr/>
        </p:nvSpPr>
        <p:spPr>
          <a:xfrm>
            <a:off x="279925" y="1338200"/>
            <a:ext cx="3288600" cy="344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72" name="Google Shape;272;p35"/>
          <p:cNvSpPr/>
          <p:nvPr/>
        </p:nvSpPr>
        <p:spPr>
          <a:xfrm>
            <a:off x="3729500" y="1338200"/>
            <a:ext cx="5134500" cy="344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73" name="Google Shape;273;p35"/>
          <p:cNvSpPr txBox="1"/>
          <p:nvPr/>
        </p:nvSpPr>
        <p:spPr>
          <a:xfrm>
            <a:off x="787375" y="1439675"/>
            <a:ext cx="227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50" u="sng">
                <a:solidFill>
                  <a:schemeClr val="dk1"/>
                </a:solidFill>
                <a:latin typeface="Merriweather"/>
                <a:ea typeface="Merriweather"/>
                <a:cs typeface="Merriweather"/>
                <a:sym typeface="Merriweather"/>
              </a:rPr>
              <a:t>Study Design</a:t>
            </a:r>
            <a:endParaRPr b="1" sz="2450" u="sng">
              <a:solidFill>
                <a:schemeClr val="dk1"/>
              </a:solidFill>
              <a:latin typeface="Merriweather"/>
              <a:ea typeface="Merriweather"/>
              <a:cs typeface="Merriweather"/>
              <a:sym typeface="Merriweather"/>
            </a:endParaRPr>
          </a:p>
        </p:txBody>
      </p:sp>
      <p:sp>
        <p:nvSpPr>
          <p:cNvPr id="274" name="Google Shape;274;p35"/>
          <p:cNvSpPr txBox="1"/>
          <p:nvPr/>
        </p:nvSpPr>
        <p:spPr>
          <a:xfrm>
            <a:off x="5330000" y="1439675"/>
            <a:ext cx="19335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50" u="sng">
                <a:solidFill>
                  <a:schemeClr val="dk1"/>
                </a:solidFill>
                <a:latin typeface="Merriweather"/>
                <a:ea typeface="Merriweather"/>
                <a:cs typeface="Merriweather"/>
                <a:sym typeface="Merriweather"/>
              </a:rPr>
              <a:t>Hypothesis</a:t>
            </a:r>
            <a:endParaRPr b="1" sz="2450" u="sng">
              <a:solidFill>
                <a:schemeClr val="dk1"/>
              </a:solidFill>
              <a:latin typeface="Merriweather"/>
              <a:ea typeface="Merriweather"/>
              <a:cs typeface="Merriweather"/>
              <a:sym typeface="Merriweather"/>
            </a:endParaRPr>
          </a:p>
        </p:txBody>
      </p:sp>
      <p:sp>
        <p:nvSpPr>
          <p:cNvPr id="275" name="Google Shape;275;p35"/>
          <p:cNvSpPr txBox="1"/>
          <p:nvPr/>
        </p:nvSpPr>
        <p:spPr>
          <a:xfrm>
            <a:off x="279925" y="1857146"/>
            <a:ext cx="3288600" cy="2729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DM Sans"/>
              <a:buChar char="-"/>
            </a:pPr>
            <a:r>
              <a:rPr b="1" lang="en">
                <a:solidFill>
                  <a:schemeClr val="dk2"/>
                </a:solidFill>
                <a:latin typeface="DM Sans"/>
                <a:ea typeface="DM Sans"/>
                <a:cs typeface="DM Sans"/>
                <a:sym typeface="DM Sans"/>
              </a:rPr>
              <a:t>Cross-sectional </a:t>
            </a:r>
            <a:r>
              <a:rPr lang="en">
                <a:solidFill>
                  <a:schemeClr val="dk2"/>
                </a:solidFill>
                <a:latin typeface="DM Sans"/>
                <a:ea typeface="DM Sans"/>
                <a:cs typeface="DM Sans"/>
                <a:sym typeface="DM Sans"/>
              </a:rPr>
              <a:t>survey of UNC Undergraduate students</a:t>
            </a:r>
            <a:endParaRPr>
              <a:solidFill>
                <a:schemeClr val="dk2"/>
              </a:solidFill>
              <a:latin typeface="DM Sans"/>
              <a:ea typeface="DM Sans"/>
              <a:cs typeface="DM Sans"/>
              <a:sym typeface="DM Sans"/>
            </a:endParaRPr>
          </a:p>
          <a:p>
            <a:pPr indent="-317500" lvl="0" marL="457200" rtl="0" algn="l">
              <a:spcBef>
                <a:spcPts val="0"/>
              </a:spcBef>
              <a:spcAft>
                <a:spcPts val="0"/>
              </a:spcAft>
              <a:buClr>
                <a:schemeClr val="dk2"/>
              </a:buClr>
              <a:buSzPts val="1400"/>
              <a:buFont typeface="DM Sans"/>
              <a:buChar char="-"/>
            </a:pPr>
            <a:r>
              <a:rPr b="1" lang="en">
                <a:solidFill>
                  <a:schemeClr val="dk2"/>
                </a:solidFill>
                <a:latin typeface="DM Sans"/>
                <a:ea typeface="DM Sans"/>
                <a:cs typeface="DM Sans"/>
                <a:sym typeface="DM Sans"/>
              </a:rPr>
              <a:t>Exposure:</a:t>
            </a:r>
            <a:r>
              <a:rPr lang="en">
                <a:solidFill>
                  <a:schemeClr val="dk2"/>
                </a:solidFill>
                <a:latin typeface="DM Sans"/>
                <a:ea typeface="DM Sans"/>
                <a:cs typeface="DM Sans"/>
                <a:sym typeface="DM Sans"/>
              </a:rPr>
              <a:t> Eating at UNC dining halls ≥ 5 meals/week in the past 7 days</a:t>
            </a:r>
            <a:endParaRPr>
              <a:solidFill>
                <a:schemeClr val="dk2"/>
              </a:solidFill>
              <a:latin typeface="DM Sans"/>
              <a:ea typeface="DM Sans"/>
              <a:cs typeface="DM Sans"/>
              <a:sym typeface="DM Sans"/>
            </a:endParaRPr>
          </a:p>
          <a:p>
            <a:pPr indent="-317500" lvl="0" marL="457200" rtl="0" algn="l">
              <a:spcBef>
                <a:spcPts val="0"/>
              </a:spcBef>
              <a:spcAft>
                <a:spcPts val="0"/>
              </a:spcAft>
              <a:buClr>
                <a:schemeClr val="dk2"/>
              </a:buClr>
              <a:buSzPts val="1400"/>
              <a:buFont typeface="DM Sans"/>
              <a:buChar char="-"/>
            </a:pPr>
            <a:r>
              <a:rPr b="1" lang="en">
                <a:solidFill>
                  <a:schemeClr val="dk2"/>
                </a:solidFill>
                <a:latin typeface="DM Sans"/>
                <a:ea typeface="DM Sans"/>
                <a:cs typeface="DM Sans"/>
                <a:sym typeface="DM Sans"/>
              </a:rPr>
              <a:t>Outcome:</a:t>
            </a:r>
            <a:r>
              <a:rPr lang="en">
                <a:solidFill>
                  <a:schemeClr val="dk2"/>
                </a:solidFill>
                <a:latin typeface="DM Sans"/>
                <a:ea typeface="DM Sans"/>
                <a:cs typeface="DM Sans"/>
                <a:sym typeface="DM Sans"/>
              </a:rPr>
              <a:t> Adequate vegetable consumption of </a:t>
            </a:r>
            <a:endParaRPr>
              <a:solidFill>
                <a:schemeClr val="dk2"/>
              </a:solidFill>
              <a:latin typeface="DM Sans"/>
              <a:ea typeface="DM Sans"/>
              <a:cs typeface="DM Sans"/>
              <a:sym typeface="DM Sans"/>
            </a:endParaRPr>
          </a:p>
          <a:p>
            <a:pPr indent="0" lvl="0" marL="457200" rtl="0" algn="l">
              <a:spcBef>
                <a:spcPts val="0"/>
              </a:spcBef>
              <a:spcAft>
                <a:spcPts val="0"/>
              </a:spcAft>
              <a:buNone/>
            </a:pPr>
            <a:r>
              <a:rPr lang="en">
                <a:solidFill>
                  <a:schemeClr val="dk2"/>
                </a:solidFill>
                <a:latin typeface="DM Sans"/>
                <a:ea typeface="DM Sans"/>
                <a:cs typeface="DM Sans"/>
                <a:sym typeface="DM Sans"/>
              </a:rPr>
              <a:t>≥ 7 portions/week) </a:t>
            </a:r>
            <a:r>
              <a:rPr lang="en">
                <a:solidFill>
                  <a:schemeClr val="dk2"/>
                </a:solidFill>
                <a:latin typeface="DM Sans"/>
                <a:ea typeface="DM Sans"/>
                <a:cs typeface="DM Sans"/>
                <a:sym typeface="DM Sans"/>
              </a:rPr>
              <a:t>in the past 7 days</a:t>
            </a:r>
            <a:endParaRPr>
              <a:solidFill>
                <a:schemeClr val="dk2"/>
              </a:solidFill>
              <a:latin typeface="DM Sans"/>
              <a:ea typeface="DM Sans"/>
              <a:cs typeface="DM Sans"/>
              <a:sym typeface="DM Sans"/>
            </a:endParaRPr>
          </a:p>
          <a:p>
            <a:pPr indent="-317500" lvl="0" marL="457200" rtl="0" algn="l">
              <a:spcBef>
                <a:spcPts val="0"/>
              </a:spcBef>
              <a:spcAft>
                <a:spcPts val="0"/>
              </a:spcAft>
              <a:buClr>
                <a:schemeClr val="dk2"/>
              </a:buClr>
              <a:buSzPts val="1400"/>
              <a:buFont typeface="DM Sans"/>
              <a:buChar char="-"/>
            </a:pPr>
            <a:r>
              <a:rPr b="1" lang="en">
                <a:solidFill>
                  <a:schemeClr val="dk2"/>
                </a:solidFill>
                <a:latin typeface="DM Sans"/>
                <a:ea typeface="DM Sans"/>
                <a:cs typeface="DM Sans"/>
                <a:sym typeface="DM Sans"/>
              </a:rPr>
              <a:t>Tested </a:t>
            </a:r>
            <a:r>
              <a:rPr b="1" lang="en">
                <a:solidFill>
                  <a:schemeClr val="dk2"/>
                </a:solidFill>
                <a:latin typeface="DM Sans"/>
                <a:ea typeface="DM Sans"/>
                <a:cs typeface="DM Sans"/>
                <a:sym typeface="DM Sans"/>
              </a:rPr>
              <a:t>Confounder</a:t>
            </a:r>
            <a:r>
              <a:rPr b="1" lang="en">
                <a:solidFill>
                  <a:schemeClr val="dk2"/>
                </a:solidFill>
                <a:latin typeface="DM Sans"/>
                <a:ea typeface="DM Sans"/>
                <a:cs typeface="DM Sans"/>
                <a:sym typeface="DM Sans"/>
              </a:rPr>
              <a:t>s: </a:t>
            </a:r>
            <a:r>
              <a:rPr lang="en">
                <a:solidFill>
                  <a:schemeClr val="dk2"/>
                </a:solidFill>
                <a:latin typeface="DM Sans"/>
                <a:ea typeface="DM Sans"/>
                <a:cs typeface="DM Sans"/>
                <a:sym typeface="DM Sans"/>
              </a:rPr>
              <a:t>Gender, financial barriers to food access, feelings about vegetable</a:t>
            </a:r>
            <a:r>
              <a:rPr lang="en">
                <a:solidFill>
                  <a:schemeClr val="dk2"/>
                </a:solidFill>
                <a:latin typeface="DM Sans"/>
                <a:ea typeface="DM Sans"/>
                <a:cs typeface="DM Sans"/>
                <a:sym typeface="DM Sans"/>
              </a:rPr>
              <a:t>s</a:t>
            </a:r>
            <a:endParaRPr>
              <a:solidFill>
                <a:schemeClr val="dk2"/>
              </a:solidFill>
              <a:latin typeface="DM Sans"/>
              <a:ea typeface="DM Sans"/>
              <a:cs typeface="DM Sans"/>
              <a:sym typeface="DM Sans"/>
            </a:endParaRPr>
          </a:p>
        </p:txBody>
      </p:sp>
      <p:sp>
        <p:nvSpPr>
          <p:cNvPr id="276" name="Google Shape;276;p35"/>
          <p:cNvSpPr txBox="1"/>
          <p:nvPr/>
        </p:nvSpPr>
        <p:spPr>
          <a:xfrm>
            <a:off x="3974000" y="1879825"/>
            <a:ext cx="4719300" cy="272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50">
                <a:solidFill>
                  <a:schemeClr val="dk2"/>
                </a:solidFill>
                <a:latin typeface="DM Sans"/>
                <a:ea typeface="DM Sans"/>
                <a:cs typeface="DM Sans"/>
                <a:sym typeface="DM Sans"/>
              </a:rPr>
              <a:t>UNC undergraduates who eat on campus ≥ 5 meals/week have </a:t>
            </a:r>
            <a:r>
              <a:rPr b="1" lang="en" sz="2650">
                <a:solidFill>
                  <a:schemeClr val="dk2"/>
                </a:solidFill>
                <a:latin typeface="DM Sans"/>
                <a:ea typeface="DM Sans"/>
                <a:cs typeface="DM Sans"/>
                <a:sym typeface="DM Sans"/>
              </a:rPr>
              <a:t>different</a:t>
            </a:r>
            <a:r>
              <a:rPr lang="en" sz="2650">
                <a:solidFill>
                  <a:schemeClr val="dk2"/>
                </a:solidFill>
                <a:latin typeface="DM Sans"/>
                <a:ea typeface="DM Sans"/>
                <a:cs typeface="DM Sans"/>
                <a:sym typeface="DM Sans"/>
              </a:rPr>
              <a:t> vegetable consumption levels than those </a:t>
            </a:r>
            <a:endParaRPr sz="2650">
              <a:solidFill>
                <a:schemeClr val="dk2"/>
              </a:solidFill>
              <a:latin typeface="DM Sans"/>
              <a:ea typeface="DM Sans"/>
              <a:cs typeface="DM Sans"/>
              <a:sym typeface="DM Sans"/>
            </a:endParaRPr>
          </a:p>
          <a:p>
            <a:pPr indent="0" lvl="0" marL="0" rtl="0" algn="ctr">
              <a:spcBef>
                <a:spcPts val="0"/>
              </a:spcBef>
              <a:spcAft>
                <a:spcPts val="0"/>
              </a:spcAft>
              <a:buNone/>
            </a:pPr>
            <a:r>
              <a:rPr lang="en" sz="2650">
                <a:solidFill>
                  <a:schemeClr val="dk2"/>
                </a:solidFill>
                <a:latin typeface="DM Sans"/>
                <a:ea typeface="DM Sans"/>
                <a:cs typeface="DM Sans"/>
                <a:sym typeface="DM Sans"/>
              </a:rPr>
              <a:t>who do not.</a:t>
            </a:r>
            <a:endParaRPr sz="2650">
              <a:solidFill>
                <a:schemeClr val="dk2"/>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Agenda</a:t>
            </a:r>
            <a:endParaRPr/>
          </a:p>
        </p:txBody>
      </p:sp>
      <p:sp>
        <p:nvSpPr>
          <p:cNvPr id="283" name="Google Shape;283;p36"/>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284" name="Google Shape;284;p36"/>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a:t>
            </a:r>
            <a:endParaRPr b="1" sz="3650">
              <a:solidFill>
                <a:schemeClr val="accent2"/>
              </a:solidFill>
              <a:latin typeface="Merriweather"/>
              <a:ea typeface="Merriweather"/>
              <a:cs typeface="Merriweather"/>
              <a:sym typeface="Merriweather"/>
            </a:endParaRPr>
          </a:p>
        </p:txBody>
      </p:sp>
      <p:sp>
        <p:nvSpPr>
          <p:cNvPr id="285" name="Google Shape;285;p36"/>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Methods</a:t>
            </a:r>
            <a:endParaRPr b="1" sz="3650">
              <a:solidFill>
                <a:schemeClr val="dk1"/>
              </a:solidFill>
              <a:latin typeface="Merriweather"/>
              <a:ea typeface="Merriweather"/>
              <a:cs typeface="Merriweather"/>
              <a:sym typeface="Merriweather"/>
            </a:endParaRPr>
          </a:p>
        </p:txBody>
      </p:sp>
      <p:sp>
        <p:nvSpPr>
          <p:cNvPr id="286" name="Google Shape;286;p36"/>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Results</a:t>
            </a:r>
            <a:endParaRPr b="1" sz="3650">
              <a:solidFill>
                <a:schemeClr val="accent2"/>
              </a:solidFill>
              <a:latin typeface="Merriweather"/>
              <a:ea typeface="Merriweather"/>
              <a:cs typeface="Merriweather"/>
              <a:sym typeface="Merriweather"/>
            </a:endParaRPr>
          </a:p>
        </p:txBody>
      </p:sp>
      <p:sp>
        <p:nvSpPr>
          <p:cNvPr id="287" name="Google Shape;287;p36"/>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Discussion</a:t>
            </a:r>
            <a:endParaRPr b="1" sz="3650">
              <a:solidFill>
                <a:schemeClr val="accent2"/>
              </a:solidFill>
              <a:latin typeface="Merriweather"/>
              <a:ea typeface="Merriweather"/>
              <a:cs typeface="Merriweather"/>
              <a:sym typeface="Merriweather"/>
            </a:endParaRPr>
          </a:p>
        </p:txBody>
      </p:sp>
      <p:sp>
        <p:nvSpPr>
          <p:cNvPr id="288" name="Google Shape;288;p36"/>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289" name="Google Shape;289;p36"/>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2.</a:t>
            </a:r>
            <a:endParaRPr b="1" sz="1450">
              <a:solidFill>
                <a:schemeClr val="dk1"/>
              </a:solidFill>
              <a:latin typeface="Merriweather"/>
              <a:ea typeface="Merriweather"/>
              <a:cs typeface="Merriweather"/>
              <a:sym typeface="Merriweather"/>
            </a:endParaRPr>
          </a:p>
        </p:txBody>
      </p:sp>
      <p:sp>
        <p:nvSpPr>
          <p:cNvPr id="290" name="Google Shape;290;p36"/>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291" name="Google Shape;291;p36"/>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p:nvPr/>
        </p:nvSpPr>
        <p:spPr>
          <a:xfrm>
            <a:off x="4339275" y="3224625"/>
            <a:ext cx="4254300" cy="16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7" name="Google Shape;297;p37"/>
          <p:cNvSpPr/>
          <p:nvPr/>
        </p:nvSpPr>
        <p:spPr>
          <a:xfrm>
            <a:off x="573675" y="3242925"/>
            <a:ext cx="3259500" cy="157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8" name="Google Shape;29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37"/>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Methods</a:t>
            </a:r>
            <a:endParaRPr/>
          </a:p>
        </p:txBody>
      </p:sp>
      <p:sp>
        <p:nvSpPr>
          <p:cNvPr id="300" name="Google Shape;300;p37"/>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301" name="Google Shape;301;p37"/>
          <p:cNvSpPr txBox="1"/>
          <p:nvPr/>
        </p:nvSpPr>
        <p:spPr>
          <a:xfrm>
            <a:off x="196950" y="549425"/>
            <a:ext cx="87498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Study Sample, Cleaning, &amp; Tests Used</a:t>
            </a:r>
            <a:endParaRPr b="1" sz="3650">
              <a:solidFill>
                <a:schemeClr val="dk1"/>
              </a:solidFill>
              <a:latin typeface="Merriweather"/>
              <a:ea typeface="Merriweather"/>
              <a:cs typeface="Merriweather"/>
              <a:sym typeface="Merriweather"/>
            </a:endParaRPr>
          </a:p>
        </p:txBody>
      </p:sp>
      <p:sp>
        <p:nvSpPr>
          <p:cNvPr id="302" name="Google Shape;302;p37"/>
          <p:cNvSpPr/>
          <p:nvPr/>
        </p:nvSpPr>
        <p:spPr>
          <a:xfrm>
            <a:off x="550425" y="1389025"/>
            <a:ext cx="3306000" cy="16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03" name="Google Shape;303;p37"/>
          <p:cNvSpPr txBox="1"/>
          <p:nvPr/>
        </p:nvSpPr>
        <p:spPr>
          <a:xfrm>
            <a:off x="1243675" y="1371625"/>
            <a:ext cx="18036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Study Sample</a:t>
            </a:r>
            <a:endParaRPr b="1" sz="1850" u="sng">
              <a:solidFill>
                <a:schemeClr val="dk1"/>
              </a:solidFill>
              <a:latin typeface="Merriweather"/>
              <a:ea typeface="Merriweather"/>
              <a:cs typeface="Merriweather"/>
              <a:sym typeface="Merriweather"/>
            </a:endParaRPr>
          </a:p>
        </p:txBody>
      </p:sp>
      <p:sp>
        <p:nvSpPr>
          <p:cNvPr id="304" name="Google Shape;304;p37"/>
          <p:cNvSpPr txBox="1"/>
          <p:nvPr/>
        </p:nvSpPr>
        <p:spPr>
          <a:xfrm>
            <a:off x="643425" y="1636526"/>
            <a:ext cx="3306000" cy="12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50">
                <a:solidFill>
                  <a:schemeClr val="dk2"/>
                </a:solidFill>
                <a:latin typeface="DM Sans"/>
                <a:ea typeface="DM Sans"/>
                <a:cs typeface="DM Sans"/>
                <a:sym typeface="DM Sans"/>
              </a:rPr>
              <a:t>UNC undergraduate students recruited via </a:t>
            </a:r>
            <a:r>
              <a:rPr b="1" lang="en" sz="1350">
                <a:solidFill>
                  <a:schemeClr val="dk2"/>
                </a:solidFill>
                <a:latin typeface="DM Sans"/>
                <a:ea typeface="DM Sans"/>
                <a:cs typeface="DM Sans"/>
                <a:sym typeface="DM Sans"/>
              </a:rPr>
              <a:t>convenience sampling</a:t>
            </a:r>
            <a:endParaRPr b="1" sz="1350">
              <a:solidFill>
                <a:schemeClr val="dk2"/>
              </a:solidFill>
              <a:latin typeface="DM Sans"/>
              <a:ea typeface="DM Sans"/>
              <a:cs typeface="DM Sans"/>
              <a:sym typeface="DM Sans"/>
            </a:endParaRPr>
          </a:p>
          <a:p>
            <a:pPr indent="0" lvl="0" marL="0" rtl="0" algn="l">
              <a:spcBef>
                <a:spcPts val="0"/>
              </a:spcBef>
              <a:spcAft>
                <a:spcPts val="0"/>
              </a:spcAft>
              <a:buNone/>
            </a:pPr>
            <a:r>
              <a:t/>
            </a:r>
            <a:endParaRPr sz="1350">
              <a:solidFill>
                <a:schemeClr val="dk2"/>
              </a:solidFill>
              <a:latin typeface="DM Sans"/>
              <a:ea typeface="DM Sans"/>
              <a:cs typeface="DM Sans"/>
              <a:sym typeface="DM Sans"/>
            </a:endParaRPr>
          </a:p>
          <a:p>
            <a:pPr indent="0" lvl="0" marL="0" rtl="0" algn="l">
              <a:spcBef>
                <a:spcPts val="0"/>
              </a:spcBef>
              <a:spcAft>
                <a:spcPts val="0"/>
              </a:spcAft>
              <a:buNone/>
            </a:pPr>
            <a:r>
              <a:rPr b="1" lang="en" sz="1350">
                <a:solidFill>
                  <a:schemeClr val="dk2"/>
                </a:solidFill>
                <a:latin typeface="DM Sans"/>
                <a:ea typeface="DM Sans"/>
                <a:cs typeface="DM Sans"/>
                <a:sym typeface="DM Sans"/>
              </a:rPr>
              <a:t>N = 84</a:t>
            </a:r>
            <a:endParaRPr b="1" sz="1350">
              <a:solidFill>
                <a:schemeClr val="dk2"/>
              </a:solidFill>
              <a:latin typeface="DM Sans"/>
              <a:ea typeface="DM Sans"/>
              <a:cs typeface="DM Sans"/>
              <a:sym typeface="DM Sans"/>
            </a:endParaRPr>
          </a:p>
        </p:txBody>
      </p:sp>
      <p:sp>
        <p:nvSpPr>
          <p:cNvPr id="305" name="Google Shape;305;p37"/>
          <p:cNvSpPr txBox="1"/>
          <p:nvPr/>
        </p:nvSpPr>
        <p:spPr>
          <a:xfrm>
            <a:off x="1243261" y="3272257"/>
            <a:ext cx="1860300" cy="28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Data Cleaning</a:t>
            </a:r>
            <a:endParaRPr b="1" sz="1850" u="sng">
              <a:solidFill>
                <a:schemeClr val="dk1"/>
              </a:solidFill>
              <a:latin typeface="Merriweather"/>
              <a:ea typeface="Merriweather"/>
              <a:cs typeface="Merriweather"/>
              <a:sym typeface="Merriweather"/>
            </a:endParaRPr>
          </a:p>
        </p:txBody>
      </p:sp>
      <p:sp>
        <p:nvSpPr>
          <p:cNvPr id="306" name="Google Shape;306;p37"/>
          <p:cNvSpPr txBox="1"/>
          <p:nvPr/>
        </p:nvSpPr>
        <p:spPr>
          <a:xfrm>
            <a:off x="678575" y="3468983"/>
            <a:ext cx="31545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n" sz="1350">
                <a:solidFill>
                  <a:schemeClr val="dk2"/>
                </a:solidFill>
                <a:latin typeface="DM Sans"/>
                <a:ea typeface="DM Sans"/>
                <a:cs typeface="DM Sans"/>
                <a:sym typeface="DM Sans"/>
              </a:rPr>
              <a:t>18 incomplete</a:t>
            </a:r>
            <a:r>
              <a:rPr lang="en" sz="1350">
                <a:solidFill>
                  <a:schemeClr val="dk2"/>
                </a:solidFill>
                <a:latin typeface="DM Sans"/>
                <a:ea typeface="DM Sans"/>
                <a:cs typeface="DM Sans"/>
                <a:sym typeface="DM Sans"/>
              </a:rPr>
              <a:t> responses excluded, no data errors found</a:t>
            </a:r>
            <a:endParaRPr sz="1350">
              <a:solidFill>
                <a:schemeClr val="dk2"/>
              </a:solidFill>
              <a:latin typeface="DM Sans"/>
              <a:ea typeface="DM Sans"/>
              <a:cs typeface="DM Sans"/>
              <a:sym typeface="DM Sans"/>
            </a:endParaRPr>
          </a:p>
          <a:p>
            <a:pPr indent="0" lvl="0" marL="0" rtl="0" algn="l">
              <a:spcBef>
                <a:spcPts val="0"/>
              </a:spcBef>
              <a:spcAft>
                <a:spcPts val="0"/>
              </a:spcAft>
              <a:buNone/>
            </a:pPr>
            <a:r>
              <a:t/>
            </a:r>
            <a:endParaRPr sz="1350">
              <a:solidFill>
                <a:schemeClr val="dk2"/>
              </a:solidFill>
              <a:latin typeface="DM Sans"/>
              <a:ea typeface="DM Sans"/>
              <a:cs typeface="DM Sans"/>
              <a:sym typeface="DM Sans"/>
            </a:endParaRPr>
          </a:p>
          <a:p>
            <a:pPr indent="0" lvl="0" marL="0" rtl="0" algn="l">
              <a:spcBef>
                <a:spcPts val="0"/>
              </a:spcBef>
              <a:spcAft>
                <a:spcPts val="0"/>
              </a:spcAft>
              <a:buNone/>
            </a:pPr>
            <a:r>
              <a:rPr lang="en" sz="1350">
                <a:solidFill>
                  <a:schemeClr val="dk2"/>
                </a:solidFill>
                <a:latin typeface="DM Sans"/>
                <a:ea typeface="DM Sans"/>
                <a:cs typeface="DM Sans"/>
                <a:sym typeface="DM Sans"/>
              </a:rPr>
              <a:t>N = 102 - 18 = </a:t>
            </a:r>
            <a:endParaRPr sz="1350">
              <a:solidFill>
                <a:schemeClr val="dk2"/>
              </a:solidFill>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rPr b="1" lang="en" sz="1350">
                <a:solidFill>
                  <a:schemeClr val="dk2"/>
                </a:solidFill>
                <a:latin typeface="DM Sans"/>
                <a:ea typeface="DM Sans"/>
                <a:cs typeface="DM Sans"/>
                <a:sym typeface="DM Sans"/>
              </a:rPr>
              <a:t>84 complete responses</a:t>
            </a:r>
            <a:endParaRPr b="1" sz="1150">
              <a:solidFill>
                <a:schemeClr val="dk2"/>
              </a:solidFill>
              <a:latin typeface="DM Sans"/>
              <a:ea typeface="DM Sans"/>
              <a:cs typeface="DM Sans"/>
              <a:sym typeface="DM Sans"/>
            </a:endParaRPr>
          </a:p>
        </p:txBody>
      </p:sp>
      <p:sp>
        <p:nvSpPr>
          <p:cNvPr id="307" name="Google Shape;307;p37"/>
          <p:cNvSpPr/>
          <p:nvPr/>
        </p:nvSpPr>
        <p:spPr>
          <a:xfrm>
            <a:off x="4306300" y="1389025"/>
            <a:ext cx="4254300" cy="16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08" name="Google Shape;308;p37"/>
          <p:cNvSpPr txBox="1"/>
          <p:nvPr/>
        </p:nvSpPr>
        <p:spPr>
          <a:xfrm>
            <a:off x="5466700" y="1371625"/>
            <a:ext cx="19335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Response Rate</a:t>
            </a:r>
            <a:endParaRPr b="1" sz="1850" u="sng">
              <a:solidFill>
                <a:schemeClr val="dk1"/>
              </a:solidFill>
              <a:latin typeface="Merriweather"/>
              <a:ea typeface="Merriweather"/>
              <a:cs typeface="Merriweather"/>
              <a:sym typeface="Merriweather"/>
            </a:endParaRPr>
          </a:p>
        </p:txBody>
      </p:sp>
      <p:sp>
        <p:nvSpPr>
          <p:cNvPr id="309" name="Google Shape;309;p37"/>
          <p:cNvSpPr txBox="1"/>
          <p:nvPr/>
        </p:nvSpPr>
        <p:spPr>
          <a:xfrm>
            <a:off x="4476375" y="1636351"/>
            <a:ext cx="3980100" cy="12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350">
                <a:solidFill>
                  <a:schemeClr val="dk2"/>
                </a:solidFill>
                <a:latin typeface="DM Sans"/>
                <a:ea typeface="DM Sans"/>
                <a:cs typeface="DM Sans"/>
                <a:sym typeface="DM Sans"/>
              </a:rPr>
              <a:t>Surveys distributed via email, GroupMe, Instagram, text message, and word of mouth</a:t>
            </a:r>
            <a:endParaRPr sz="1350">
              <a:solidFill>
                <a:schemeClr val="dk2"/>
              </a:solidFill>
              <a:latin typeface="DM Sans"/>
              <a:ea typeface="DM Sans"/>
              <a:cs typeface="DM Sans"/>
              <a:sym typeface="DM Sans"/>
            </a:endParaRPr>
          </a:p>
          <a:p>
            <a:pPr indent="0" lvl="0" marL="0" rtl="0" algn="l">
              <a:spcBef>
                <a:spcPts val="0"/>
              </a:spcBef>
              <a:spcAft>
                <a:spcPts val="0"/>
              </a:spcAft>
              <a:buNone/>
            </a:pPr>
            <a:r>
              <a:t/>
            </a:r>
            <a:endParaRPr sz="1350">
              <a:solidFill>
                <a:schemeClr val="dk2"/>
              </a:solidFill>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rPr lang="en" sz="1350">
                <a:solidFill>
                  <a:schemeClr val="dk2"/>
                </a:solidFill>
                <a:latin typeface="DM Sans"/>
                <a:ea typeface="DM Sans"/>
                <a:cs typeface="DM Sans"/>
                <a:sym typeface="DM Sans"/>
              </a:rPr>
              <a:t>84 completed responses / 2,303 individuals in sampling frame = </a:t>
            </a:r>
            <a:r>
              <a:rPr b="1" lang="en" sz="1350">
                <a:solidFill>
                  <a:schemeClr val="dk2"/>
                </a:solidFill>
                <a:latin typeface="DM Sans"/>
                <a:ea typeface="DM Sans"/>
                <a:cs typeface="DM Sans"/>
                <a:sym typeface="DM Sans"/>
              </a:rPr>
              <a:t>3.6% responded</a:t>
            </a:r>
            <a:endParaRPr b="1" sz="1350">
              <a:solidFill>
                <a:schemeClr val="dk2"/>
              </a:solidFill>
              <a:latin typeface="DM Sans"/>
              <a:ea typeface="DM Sans"/>
              <a:cs typeface="DM Sans"/>
              <a:sym typeface="DM Sans"/>
            </a:endParaRPr>
          </a:p>
          <a:p>
            <a:pPr indent="0" lvl="0" marL="0" rtl="0" algn="l">
              <a:spcBef>
                <a:spcPts val="0"/>
              </a:spcBef>
              <a:spcAft>
                <a:spcPts val="0"/>
              </a:spcAft>
              <a:buNone/>
            </a:pPr>
            <a:r>
              <a:t/>
            </a:r>
            <a:endParaRPr b="1" sz="1350">
              <a:solidFill>
                <a:schemeClr val="dk2"/>
              </a:solidFill>
              <a:latin typeface="DM Sans"/>
              <a:ea typeface="DM Sans"/>
              <a:cs typeface="DM Sans"/>
              <a:sym typeface="DM Sans"/>
            </a:endParaRPr>
          </a:p>
        </p:txBody>
      </p:sp>
      <p:sp>
        <p:nvSpPr>
          <p:cNvPr id="310" name="Google Shape;310;p37"/>
          <p:cNvSpPr txBox="1"/>
          <p:nvPr/>
        </p:nvSpPr>
        <p:spPr>
          <a:xfrm>
            <a:off x="5714650" y="3219450"/>
            <a:ext cx="14376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Tests Used</a:t>
            </a:r>
            <a:endParaRPr b="1" sz="1850" u="sng">
              <a:solidFill>
                <a:schemeClr val="dk1"/>
              </a:solidFill>
              <a:latin typeface="Merriweather"/>
              <a:ea typeface="Merriweather"/>
              <a:cs typeface="Merriweather"/>
              <a:sym typeface="Merriweather"/>
            </a:endParaRPr>
          </a:p>
        </p:txBody>
      </p:sp>
      <p:sp>
        <p:nvSpPr>
          <p:cNvPr id="311" name="Google Shape;311;p37"/>
          <p:cNvSpPr txBox="1"/>
          <p:nvPr/>
        </p:nvSpPr>
        <p:spPr>
          <a:xfrm>
            <a:off x="4474675" y="3490250"/>
            <a:ext cx="41190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50">
                <a:solidFill>
                  <a:schemeClr val="dk2"/>
                </a:solidFill>
                <a:latin typeface="DM Sans"/>
                <a:ea typeface="DM Sans"/>
                <a:cs typeface="DM Sans"/>
                <a:sym typeface="DM Sans"/>
              </a:rPr>
              <a:t>Crude &amp; stratified ORs</a:t>
            </a:r>
            <a:r>
              <a:rPr lang="en" sz="1350">
                <a:solidFill>
                  <a:schemeClr val="dk2"/>
                </a:solidFill>
                <a:latin typeface="DM Sans"/>
                <a:ea typeface="DM Sans"/>
                <a:cs typeface="DM Sans"/>
                <a:sym typeface="DM Sans"/>
              </a:rPr>
              <a:t> to assess confounding and EMM</a:t>
            </a:r>
            <a:endParaRPr sz="1350">
              <a:solidFill>
                <a:schemeClr val="dk2"/>
              </a:solidFill>
              <a:latin typeface="DM Sans"/>
              <a:ea typeface="DM Sans"/>
              <a:cs typeface="DM Sans"/>
              <a:sym typeface="DM Sans"/>
            </a:endParaRPr>
          </a:p>
          <a:p>
            <a:pPr indent="0" lvl="0" marL="0" rtl="0" algn="l">
              <a:spcBef>
                <a:spcPts val="0"/>
              </a:spcBef>
              <a:spcAft>
                <a:spcPts val="0"/>
              </a:spcAft>
              <a:buNone/>
            </a:pPr>
            <a:r>
              <a:rPr b="1" lang="en" sz="1350">
                <a:solidFill>
                  <a:schemeClr val="dk2"/>
                </a:solidFill>
                <a:latin typeface="DM Sans"/>
                <a:ea typeface="DM Sans"/>
                <a:cs typeface="DM Sans"/>
                <a:sym typeface="DM Sans"/>
              </a:rPr>
              <a:t>Logistic regression</a:t>
            </a:r>
            <a:r>
              <a:rPr lang="en" sz="1350">
                <a:solidFill>
                  <a:schemeClr val="dk2"/>
                </a:solidFill>
                <a:latin typeface="DM Sans"/>
                <a:ea typeface="DM Sans"/>
                <a:cs typeface="DM Sans"/>
                <a:sym typeface="DM Sans"/>
              </a:rPr>
              <a:t> with </a:t>
            </a:r>
            <a:r>
              <a:rPr b="1" lang="en" sz="1350">
                <a:solidFill>
                  <a:schemeClr val="dk2"/>
                </a:solidFill>
                <a:latin typeface="DM Sans"/>
                <a:ea typeface="DM Sans"/>
                <a:cs typeface="DM Sans"/>
                <a:sym typeface="DM Sans"/>
              </a:rPr>
              <a:t>percent-change</a:t>
            </a:r>
            <a:r>
              <a:rPr lang="en" sz="1350">
                <a:solidFill>
                  <a:schemeClr val="dk2"/>
                </a:solidFill>
                <a:latin typeface="DM Sans"/>
                <a:ea typeface="DM Sans"/>
                <a:cs typeface="DM Sans"/>
                <a:sym typeface="DM Sans"/>
              </a:rPr>
              <a:t> method (≥10% threshold)</a:t>
            </a:r>
            <a:endParaRPr sz="1350">
              <a:solidFill>
                <a:schemeClr val="dk2"/>
              </a:solidFill>
              <a:latin typeface="DM Sans"/>
              <a:ea typeface="DM Sans"/>
              <a:cs typeface="DM Sans"/>
              <a:sym typeface="DM Sans"/>
            </a:endParaRPr>
          </a:p>
          <a:p>
            <a:pPr indent="0" lvl="0" marL="0" rtl="0" algn="l">
              <a:spcBef>
                <a:spcPts val="0"/>
              </a:spcBef>
              <a:spcAft>
                <a:spcPts val="0"/>
              </a:spcAft>
              <a:buNone/>
            </a:pPr>
            <a:r>
              <a:rPr lang="en" sz="1350">
                <a:solidFill>
                  <a:schemeClr val="dk2"/>
                </a:solidFill>
                <a:latin typeface="DM Sans"/>
                <a:ea typeface="DM Sans"/>
                <a:cs typeface="DM Sans"/>
                <a:sym typeface="DM Sans"/>
              </a:rPr>
              <a:t>FInal </a:t>
            </a:r>
            <a:r>
              <a:rPr b="1" lang="en" sz="1350">
                <a:solidFill>
                  <a:schemeClr val="dk2"/>
                </a:solidFill>
                <a:latin typeface="DM Sans"/>
                <a:ea typeface="DM Sans"/>
                <a:cs typeface="DM Sans"/>
                <a:sym typeface="DM Sans"/>
              </a:rPr>
              <a:t>logistic regression</a:t>
            </a:r>
            <a:r>
              <a:rPr lang="en" sz="1350">
                <a:solidFill>
                  <a:schemeClr val="dk2"/>
                </a:solidFill>
                <a:latin typeface="DM Sans"/>
                <a:ea typeface="DM Sans"/>
                <a:cs typeface="DM Sans"/>
                <a:sym typeface="DM Sans"/>
              </a:rPr>
              <a:t> model adjusted for confounders after assessment</a:t>
            </a:r>
            <a:endParaRPr sz="1350">
              <a:solidFill>
                <a:schemeClr val="dk2"/>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38"/>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Methods</a:t>
            </a:r>
            <a:endParaRPr/>
          </a:p>
        </p:txBody>
      </p:sp>
      <p:sp>
        <p:nvSpPr>
          <p:cNvPr id="318" name="Google Shape;318;p38"/>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319" name="Google Shape;319;p38"/>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Recoding</a:t>
            </a:r>
            <a:endParaRPr b="1" sz="3650">
              <a:solidFill>
                <a:schemeClr val="dk1"/>
              </a:solidFill>
              <a:latin typeface="Merriweather"/>
              <a:ea typeface="Merriweather"/>
              <a:cs typeface="Merriweather"/>
              <a:sym typeface="Merriweather"/>
            </a:endParaRPr>
          </a:p>
        </p:txBody>
      </p:sp>
      <p:sp>
        <p:nvSpPr>
          <p:cNvPr id="320" name="Google Shape;320;p38"/>
          <p:cNvSpPr/>
          <p:nvPr/>
        </p:nvSpPr>
        <p:spPr>
          <a:xfrm>
            <a:off x="312000" y="1266375"/>
            <a:ext cx="8520000" cy="97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1" name="Google Shape;321;p38"/>
          <p:cNvSpPr/>
          <p:nvPr/>
        </p:nvSpPr>
        <p:spPr>
          <a:xfrm>
            <a:off x="312000" y="2432649"/>
            <a:ext cx="8520000" cy="97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2" name="Google Shape;322;p38"/>
          <p:cNvSpPr/>
          <p:nvPr/>
        </p:nvSpPr>
        <p:spPr>
          <a:xfrm>
            <a:off x="312000" y="3598925"/>
            <a:ext cx="8520000" cy="1326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3" name="Google Shape;323;p38"/>
          <p:cNvSpPr txBox="1"/>
          <p:nvPr/>
        </p:nvSpPr>
        <p:spPr>
          <a:xfrm>
            <a:off x="312000" y="1286225"/>
            <a:ext cx="21003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Exposure</a:t>
            </a:r>
            <a:endParaRPr b="1" sz="1850" u="sng">
              <a:solidFill>
                <a:schemeClr val="dk1"/>
              </a:solidFill>
              <a:latin typeface="Merriweather"/>
              <a:ea typeface="Merriweather"/>
              <a:cs typeface="Merriweather"/>
              <a:sym typeface="Merriweather"/>
            </a:endParaRPr>
          </a:p>
        </p:txBody>
      </p:sp>
      <p:sp>
        <p:nvSpPr>
          <p:cNvPr id="324" name="Google Shape;324;p38"/>
          <p:cNvSpPr txBox="1"/>
          <p:nvPr/>
        </p:nvSpPr>
        <p:spPr>
          <a:xfrm>
            <a:off x="312000" y="2448386"/>
            <a:ext cx="21003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Outcome</a:t>
            </a:r>
            <a:endParaRPr b="1" sz="1850" u="sng">
              <a:solidFill>
                <a:schemeClr val="dk1"/>
              </a:solidFill>
              <a:latin typeface="Merriweather"/>
              <a:ea typeface="Merriweather"/>
              <a:cs typeface="Merriweather"/>
              <a:sym typeface="Merriweather"/>
            </a:endParaRPr>
          </a:p>
        </p:txBody>
      </p:sp>
      <p:sp>
        <p:nvSpPr>
          <p:cNvPr id="325" name="Google Shape;325;p38"/>
          <p:cNvSpPr txBox="1"/>
          <p:nvPr/>
        </p:nvSpPr>
        <p:spPr>
          <a:xfrm>
            <a:off x="312000" y="3608673"/>
            <a:ext cx="21003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Confounders</a:t>
            </a:r>
            <a:endParaRPr b="1" sz="1850" u="sng">
              <a:solidFill>
                <a:schemeClr val="dk1"/>
              </a:solidFill>
              <a:latin typeface="Merriweather"/>
              <a:ea typeface="Merriweather"/>
              <a:cs typeface="Merriweather"/>
              <a:sym typeface="Merriweather"/>
            </a:endParaRPr>
          </a:p>
        </p:txBody>
      </p:sp>
      <p:sp>
        <p:nvSpPr>
          <p:cNvPr id="326" name="Google Shape;326;p38"/>
          <p:cNvSpPr txBox="1"/>
          <p:nvPr/>
        </p:nvSpPr>
        <p:spPr>
          <a:xfrm>
            <a:off x="405000" y="1563962"/>
            <a:ext cx="8334000" cy="6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650">
                <a:solidFill>
                  <a:schemeClr val="dk2"/>
                </a:solidFill>
                <a:latin typeface="DM Sans"/>
                <a:ea typeface="DM Sans"/>
                <a:cs typeface="DM Sans"/>
                <a:sym typeface="DM Sans"/>
              </a:rPr>
              <a:t>All participants that ate on-campus 5+ times a week were deemed exposed (1), while those that did not were deemed unexposed (0)</a:t>
            </a:r>
            <a:endParaRPr sz="2050">
              <a:solidFill>
                <a:schemeClr val="dk2"/>
              </a:solidFill>
              <a:latin typeface="DM Sans"/>
              <a:ea typeface="DM Sans"/>
              <a:cs typeface="DM Sans"/>
              <a:sym typeface="DM Sans"/>
            </a:endParaRPr>
          </a:p>
        </p:txBody>
      </p:sp>
      <p:sp>
        <p:nvSpPr>
          <p:cNvPr id="327" name="Google Shape;327;p38"/>
          <p:cNvSpPr txBox="1"/>
          <p:nvPr/>
        </p:nvSpPr>
        <p:spPr>
          <a:xfrm>
            <a:off x="405000" y="2726630"/>
            <a:ext cx="8334000" cy="6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650">
                <a:solidFill>
                  <a:schemeClr val="dk2"/>
                </a:solidFill>
                <a:latin typeface="DM Sans"/>
                <a:ea typeface="DM Sans"/>
                <a:cs typeface="DM Sans"/>
                <a:sym typeface="DM Sans"/>
              </a:rPr>
              <a:t>All participants that ate 7+ palm-sized portions a week were considered to have the outcome (1), while those that did not were considered to not have the outcome (0)</a:t>
            </a:r>
            <a:endParaRPr sz="2050">
              <a:solidFill>
                <a:schemeClr val="dk2"/>
              </a:solidFill>
              <a:latin typeface="DM Sans"/>
              <a:ea typeface="DM Sans"/>
              <a:cs typeface="DM Sans"/>
              <a:sym typeface="DM Sans"/>
            </a:endParaRPr>
          </a:p>
        </p:txBody>
      </p:sp>
      <p:sp>
        <p:nvSpPr>
          <p:cNvPr id="328" name="Google Shape;328;p38"/>
          <p:cNvSpPr txBox="1"/>
          <p:nvPr/>
        </p:nvSpPr>
        <p:spPr>
          <a:xfrm>
            <a:off x="405000" y="3898004"/>
            <a:ext cx="8334000" cy="9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300">
                <a:solidFill>
                  <a:schemeClr val="dk2"/>
                </a:solidFill>
                <a:latin typeface="DM Sans"/>
                <a:ea typeface="DM Sans"/>
                <a:cs typeface="DM Sans"/>
                <a:sym typeface="DM Sans"/>
              </a:rPr>
              <a:t>For gender stratification, we lumped male into one group (0) and female into another group (1). We dropped Non-Binary/other stratification due to the small sample size. For food insecurity, we combined everyone who didn’t experience it (0) vs those who did (1). Finally, for vegetable feeling stratification, we compared everyone that was content with their vegetable consumption to those that wish they ate more.</a:t>
            </a:r>
            <a:endParaRPr sz="1300">
              <a:solidFill>
                <a:schemeClr val="dk2"/>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39"/>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Methods</a:t>
            </a:r>
            <a:endParaRPr/>
          </a:p>
        </p:txBody>
      </p:sp>
      <p:sp>
        <p:nvSpPr>
          <p:cNvPr id="335" name="Google Shape;335;p39"/>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336" name="Google Shape;336;p39"/>
          <p:cNvSpPr txBox="1"/>
          <p:nvPr/>
        </p:nvSpPr>
        <p:spPr>
          <a:xfrm>
            <a:off x="196960" y="549425"/>
            <a:ext cx="13980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DAG</a:t>
            </a:r>
            <a:endParaRPr b="1" sz="3650">
              <a:solidFill>
                <a:schemeClr val="dk1"/>
              </a:solidFill>
              <a:latin typeface="Merriweather"/>
              <a:ea typeface="Merriweather"/>
              <a:cs typeface="Merriweather"/>
              <a:sym typeface="Merriweather"/>
            </a:endParaRPr>
          </a:p>
        </p:txBody>
      </p:sp>
      <p:sp>
        <p:nvSpPr>
          <p:cNvPr id="337" name="Google Shape;337;p39"/>
          <p:cNvSpPr txBox="1"/>
          <p:nvPr/>
        </p:nvSpPr>
        <p:spPr>
          <a:xfrm>
            <a:off x="3745850" y="2583425"/>
            <a:ext cx="1527600" cy="831300"/>
          </a:xfrm>
          <a:prstGeom prst="rect">
            <a:avLst/>
          </a:prstGeom>
          <a:solidFill>
            <a:schemeClr val="accent6"/>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Frequency of Dining Hall Consumption</a:t>
            </a:r>
            <a:endParaRPr>
              <a:solidFill>
                <a:schemeClr val="accent3"/>
              </a:solidFill>
              <a:latin typeface="DM Sans"/>
              <a:ea typeface="DM Sans"/>
              <a:cs typeface="DM Sans"/>
              <a:sym typeface="DM Sans"/>
            </a:endParaRPr>
          </a:p>
        </p:txBody>
      </p:sp>
      <p:sp>
        <p:nvSpPr>
          <p:cNvPr id="338" name="Google Shape;338;p39"/>
          <p:cNvSpPr txBox="1"/>
          <p:nvPr/>
        </p:nvSpPr>
        <p:spPr>
          <a:xfrm>
            <a:off x="6820150" y="2583425"/>
            <a:ext cx="1527600" cy="831300"/>
          </a:xfrm>
          <a:prstGeom prst="rect">
            <a:avLst/>
          </a:prstGeom>
          <a:solidFill>
            <a:schemeClr val="accent6"/>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Frequency of Vegetable Consumption</a:t>
            </a:r>
            <a:endParaRPr>
              <a:solidFill>
                <a:schemeClr val="accent3"/>
              </a:solidFill>
              <a:latin typeface="DM Sans"/>
              <a:ea typeface="DM Sans"/>
              <a:cs typeface="DM Sans"/>
              <a:sym typeface="DM Sans"/>
            </a:endParaRPr>
          </a:p>
        </p:txBody>
      </p:sp>
      <p:sp>
        <p:nvSpPr>
          <p:cNvPr id="339" name="Google Shape;339;p39"/>
          <p:cNvSpPr txBox="1"/>
          <p:nvPr/>
        </p:nvSpPr>
        <p:spPr>
          <a:xfrm>
            <a:off x="671550" y="2583425"/>
            <a:ext cx="1527600" cy="8313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Frequency of Restaurant Patronage</a:t>
            </a:r>
            <a:endParaRPr>
              <a:solidFill>
                <a:schemeClr val="accent3"/>
              </a:solidFill>
              <a:latin typeface="DM Sans"/>
              <a:ea typeface="DM Sans"/>
              <a:cs typeface="DM Sans"/>
              <a:sym typeface="DM Sans"/>
            </a:endParaRPr>
          </a:p>
        </p:txBody>
      </p:sp>
      <p:sp>
        <p:nvSpPr>
          <p:cNvPr id="340" name="Google Shape;340;p39"/>
          <p:cNvSpPr txBox="1"/>
          <p:nvPr/>
        </p:nvSpPr>
        <p:spPr>
          <a:xfrm>
            <a:off x="1127275" y="1280325"/>
            <a:ext cx="1527600" cy="6156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Distance Barriers to Food</a:t>
            </a:r>
            <a:endParaRPr>
              <a:solidFill>
                <a:schemeClr val="accent3"/>
              </a:solidFill>
              <a:latin typeface="DM Sans"/>
              <a:ea typeface="DM Sans"/>
              <a:cs typeface="DM Sans"/>
              <a:sym typeface="DM Sans"/>
            </a:endParaRPr>
          </a:p>
        </p:txBody>
      </p:sp>
      <p:sp>
        <p:nvSpPr>
          <p:cNvPr id="341" name="Google Shape;341;p39"/>
          <p:cNvSpPr txBox="1"/>
          <p:nvPr/>
        </p:nvSpPr>
        <p:spPr>
          <a:xfrm>
            <a:off x="2822725" y="196450"/>
            <a:ext cx="1527600" cy="4002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Year in School</a:t>
            </a:r>
            <a:endParaRPr>
              <a:solidFill>
                <a:schemeClr val="accent3"/>
              </a:solidFill>
              <a:latin typeface="DM Sans"/>
              <a:ea typeface="DM Sans"/>
              <a:cs typeface="DM Sans"/>
              <a:sym typeface="DM Sans"/>
            </a:endParaRPr>
          </a:p>
        </p:txBody>
      </p:sp>
      <p:sp>
        <p:nvSpPr>
          <p:cNvPr id="342" name="Google Shape;342;p39"/>
          <p:cNvSpPr txBox="1"/>
          <p:nvPr/>
        </p:nvSpPr>
        <p:spPr>
          <a:xfrm>
            <a:off x="3879125" y="728675"/>
            <a:ext cx="1527600" cy="6156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Meal Plan Possession</a:t>
            </a:r>
            <a:endParaRPr>
              <a:solidFill>
                <a:schemeClr val="accent3"/>
              </a:solidFill>
              <a:latin typeface="DM Sans"/>
              <a:ea typeface="DM Sans"/>
              <a:cs typeface="DM Sans"/>
              <a:sym typeface="DM Sans"/>
            </a:endParaRPr>
          </a:p>
        </p:txBody>
      </p:sp>
      <p:sp>
        <p:nvSpPr>
          <p:cNvPr id="343" name="Google Shape;343;p39"/>
          <p:cNvSpPr txBox="1"/>
          <p:nvPr/>
        </p:nvSpPr>
        <p:spPr>
          <a:xfrm>
            <a:off x="1522125" y="3831925"/>
            <a:ext cx="1527600" cy="8313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Frequency of Delivery Service Usage</a:t>
            </a:r>
            <a:endParaRPr>
              <a:solidFill>
                <a:schemeClr val="accent3"/>
              </a:solidFill>
              <a:latin typeface="DM Sans"/>
              <a:ea typeface="DM Sans"/>
              <a:cs typeface="DM Sans"/>
              <a:sym typeface="DM Sans"/>
            </a:endParaRPr>
          </a:p>
        </p:txBody>
      </p:sp>
      <p:sp>
        <p:nvSpPr>
          <p:cNvPr id="344" name="Google Shape;344;p39"/>
          <p:cNvSpPr txBox="1"/>
          <p:nvPr/>
        </p:nvSpPr>
        <p:spPr>
          <a:xfrm>
            <a:off x="3745850" y="4362450"/>
            <a:ext cx="1527600" cy="6156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Frequency of Home Cooking</a:t>
            </a:r>
            <a:endParaRPr>
              <a:solidFill>
                <a:schemeClr val="accent3"/>
              </a:solidFill>
              <a:latin typeface="DM Sans"/>
              <a:ea typeface="DM Sans"/>
              <a:cs typeface="DM Sans"/>
              <a:sym typeface="DM Sans"/>
            </a:endParaRPr>
          </a:p>
        </p:txBody>
      </p:sp>
      <p:sp>
        <p:nvSpPr>
          <p:cNvPr id="345" name="Google Shape;345;p39"/>
          <p:cNvSpPr txBox="1"/>
          <p:nvPr/>
        </p:nvSpPr>
        <p:spPr>
          <a:xfrm>
            <a:off x="5273450" y="3688488"/>
            <a:ext cx="1527600" cy="4002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Gender</a:t>
            </a:r>
            <a:endParaRPr>
              <a:solidFill>
                <a:schemeClr val="accent3"/>
              </a:solidFill>
              <a:latin typeface="DM Sans"/>
              <a:ea typeface="DM Sans"/>
              <a:cs typeface="DM Sans"/>
              <a:sym typeface="DM Sans"/>
            </a:endParaRPr>
          </a:p>
        </p:txBody>
      </p:sp>
      <p:sp>
        <p:nvSpPr>
          <p:cNvPr id="346" name="Google Shape;346;p39"/>
          <p:cNvSpPr txBox="1"/>
          <p:nvPr/>
        </p:nvSpPr>
        <p:spPr>
          <a:xfrm>
            <a:off x="5406725" y="1476300"/>
            <a:ext cx="1527600" cy="8313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Financial Barriers to Food Access</a:t>
            </a:r>
            <a:endParaRPr>
              <a:solidFill>
                <a:schemeClr val="accent3"/>
              </a:solidFill>
              <a:latin typeface="DM Sans"/>
              <a:ea typeface="DM Sans"/>
              <a:cs typeface="DM Sans"/>
              <a:sym typeface="DM Sans"/>
            </a:endParaRPr>
          </a:p>
        </p:txBody>
      </p:sp>
      <p:sp>
        <p:nvSpPr>
          <p:cNvPr id="347" name="Google Shape;347;p39"/>
          <p:cNvSpPr txBox="1"/>
          <p:nvPr/>
        </p:nvSpPr>
        <p:spPr>
          <a:xfrm>
            <a:off x="7181700" y="1172475"/>
            <a:ext cx="1527600" cy="615600"/>
          </a:xfrm>
          <a:prstGeom prst="rect">
            <a:avLst/>
          </a:prstGeom>
          <a:solidFill>
            <a:schemeClr val="dk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3"/>
                </a:solidFill>
                <a:latin typeface="DM Sans"/>
                <a:ea typeface="DM Sans"/>
                <a:cs typeface="DM Sans"/>
                <a:sym typeface="DM Sans"/>
              </a:rPr>
              <a:t>Feelings about Vegetables</a:t>
            </a:r>
            <a:endParaRPr>
              <a:solidFill>
                <a:schemeClr val="accent3"/>
              </a:solidFill>
              <a:latin typeface="DM Sans"/>
              <a:ea typeface="DM Sans"/>
              <a:cs typeface="DM Sans"/>
              <a:sym typeface="DM Sans"/>
            </a:endParaRPr>
          </a:p>
        </p:txBody>
      </p:sp>
      <p:sp>
        <p:nvSpPr>
          <p:cNvPr id="348" name="Google Shape;348;p39"/>
          <p:cNvSpPr/>
          <p:nvPr/>
        </p:nvSpPr>
        <p:spPr>
          <a:xfrm>
            <a:off x="5347800" y="2893500"/>
            <a:ext cx="1398000" cy="2091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9" name="Google Shape;349;p39"/>
          <p:cNvSpPr/>
          <p:nvPr/>
        </p:nvSpPr>
        <p:spPr>
          <a:xfrm>
            <a:off x="7891900" y="1849575"/>
            <a:ext cx="186900" cy="722100"/>
          </a:xfrm>
          <a:prstGeom prst="down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0" name="Google Shape;350;p39"/>
          <p:cNvSpPr/>
          <p:nvPr/>
        </p:nvSpPr>
        <p:spPr>
          <a:xfrm rot="2700000">
            <a:off x="5164305" y="1927595"/>
            <a:ext cx="187100" cy="831133"/>
          </a:xfrm>
          <a:prstGeom prst="down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1" name="Google Shape;351;p39"/>
          <p:cNvSpPr/>
          <p:nvPr/>
        </p:nvSpPr>
        <p:spPr>
          <a:xfrm rot="-2700000">
            <a:off x="6993980" y="1925233"/>
            <a:ext cx="187100" cy="831133"/>
          </a:xfrm>
          <a:prstGeom prst="down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2" name="Google Shape;352;p39"/>
          <p:cNvSpPr/>
          <p:nvPr/>
        </p:nvSpPr>
        <p:spPr>
          <a:xfrm rot="2700000">
            <a:off x="6804343" y="3271295"/>
            <a:ext cx="187100" cy="615607"/>
          </a:xfrm>
          <a:prstGeom prst="up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3" name="Google Shape;353;p39"/>
          <p:cNvSpPr/>
          <p:nvPr/>
        </p:nvSpPr>
        <p:spPr>
          <a:xfrm rot="-2700000">
            <a:off x="5164298" y="3225003"/>
            <a:ext cx="187100" cy="615607"/>
          </a:xfrm>
          <a:prstGeom prst="up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4" name="Google Shape;354;p39"/>
          <p:cNvSpPr/>
          <p:nvPr/>
        </p:nvSpPr>
        <p:spPr>
          <a:xfrm>
            <a:off x="2296400" y="2940625"/>
            <a:ext cx="1398000" cy="1620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5" name="Google Shape;355;p39"/>
          <p:cNvSpPr/>
          <p:nvPr/>
        </p:nvSpPr>
        <p:spPr>
          <a:xfrm rot="-1846305">
            <a:off x="2906126" y="3539761"/>
            <a:ext cx="1013254" cy="209195"/>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6" name="Google Shape;356;p39"/>
          <p:cNvSpPr/>
          <p:nvPr/>
        </p:nvSpPr>
        <p:spPr>
          <a:xfrm>
            <a:off x="4431725" y="3392625"/>
            <a:ext cx="186900" cy="1075500"/>
          </a:xfrm>
          <a:prstGeom prst="up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7" name="Google Shape;357;p39"/>
          <p:cNvSpPr/>
          <p:nvPr/>
        </p:nvSpPr>
        <p:spPr>
          <a:xfrm rot="2293670">
            <a:off x="2453062" y="2247376"/>
            <a:ext cx="1572262" cy="144823"/>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8" name="Google Shape;358;p39"/>
          <p:cNvSpPr/>
          <p:nvPr/>
        </p:nvSpPr>
        <p:spPr>
          <a:xfrm rot="-2951159">
            <a:off x="2077943" y="935238"/>
            <a:ext cx="1104335" cy="185054"/>
          </a:xfrm>
          <a:prstGeom prst="lef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59" name="Google Shape;359;p39"/>
          <p:cNvSpPr/>
          <p:nvPr/>
        </p:nvSpPr>
        <p:spPr>
          <a:xfrm rot="1839738">
            <a:off x="4195895" y="465286"/>
            <a:ext cx="752975" cy="144577"/>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0" name="Google Shape;360;p39"/>
          <p:cNvSpPr/>
          <p:nvPr/>
        </p:nvSpPr>
        <p:spPr>
          <a:xfrm>
            <a:off x="4462900" y="1272875"/>
            <a:ext cx="186900" cy="1430400"/>
          </a:xfrm>
          <a:prstGeom prst="down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40"/>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Methods</a:t>
            </a:r>
            <a:endParaRPr/>
          </a:p>
        </p:txBody>
      </p:sp>
      <p:sp>
        <p:nvSpPr>
          <p:cNvPr id="367" name="Google Shape;367;p40"/>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368" name="Google Shape;368;p40"/>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Confounders and EMMs</a:t>
            </a:r>
            <a:endParaRPr b="1" sz="3650">
              <a:solidFill>
                <a:schemeClr val="dk1"/>
              </a:solidFill>
              <a:latin typeface="Merriweather"/>
              <a:ea typeface="Merriweather"/>
              <a:cs typeface="Merriweather"/>
              <a:sym typeface="Merriweather"/>
            </a:endParaRPr>
          </a:p>
        </p:txBody>
      </p:sp>
      <p:sp>
        <p:nvSpPr>
          <p:cNvPr id="369" name="Google Shape;369;p40"/>
          <p:cNvSpPr/>
          <p:nvPr/>
        </p:nvSpPr>
        <p:spPr>
          <a:xfrm>
            <a:off x="312000" y="1266375"/>
            <a:ext cx="8520000" cy="122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0" name="Google Shape;370;p40"/>
          <p:cNvSpPr/>
          <p:nvPr/>
        </p:nvSpPr>
        <p:spPr>
          <a:xfrm>
            <a:off x="312000" y="2676588"/>
            <a:ext cx="8520000" cy="122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1" name="Google Shape;371;p40"/>
          <p:cNvSpPr/>
          <p:nvPr/>
        </p:nvSpPr>
        <p:spPr>
          <a:xfrm>
            <a:off x="312000" y="4084925"/>
            <a:ext cx="8520000" cy="84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2" name="Google Shape;372;p40"/>
          <p:cNvSpPr txBox="1"/>
          <p:nvPr/>
        </p:nvSpPr>
        <p:spPr>
          <a:xfrm>
            <a:off x="312000" y="1286225"/>
            <a:ext cx="28011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550" u="sng">
                <a:solidFill>
                  <a:schemeClr val="dk1"/>
                </a:solidFill>
                <a:latin typeface="Merriweather"/>
                <a:ea typeface="Merriweather"/>
                <a:cs typeface="Merriweather"/>
                <a:sym typeface="Merriweather"/>
              </a:rPr>
              <a:t>Gender (Confounder)</a:t>
            </a:r>
            <a:endParaRPr b="1" sz="1550" u="sng">
              <a:solidFill>
                <a:schemeClr val="dk1"/>
              </a:solidFill>
              <a:latin typeface="Merriweather"/>
              <a:ea typeface="Merriweather"/>
              <a:cs typeface="Merriweather"/>
              <a:sym typeface="Merriweather"/>
            </a:endParaRPr>
          </a:p>
        </p:txBody>
      </p:sp>
      <p:sp>
        <p:nvSpPr>
          <p:cNvPr id="373" name="Google Shape;373;p40"/>
          <p:cNvSpPr txBox="1"/>
          <p:nvPr/>
        </p:nvSpPr>
        <p:spPr>
          <a:xfrm>
            <a:off x="312000" y="2692307"/>
            <a:ext cx="6775500" cy="41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550" u="sng">
                <a:solidFill>
                  <a:schemeClr val="dk1"/>
                </a:solidFill>
                <a:latin typeface="Merriweather"/>
                <a:ea typeface="Merriweather"/>
                <a:cs typeface="Merriweather"/>
                <a:sym typeface="Merriweather"/>
              </a:rPr>
              <a:t>Financial Barriers to Food Access (Confounder)</a:t>
            </a:r>
            <a:endParaRPr b="1" sz="1550" u="sng">
              <a:solidFill>
                <a:schemeClr val="dk1"/>
              </a:solidFill>
              <a:latin typeface="Merriweather"/>
              <a:ea typeface="Merriweather"/>
              <a:cs typeface="Merriweather"/>
              <a:sym typeface="Merriweather"/>
            </a:endParaRPr>
          </a:p>
        </p:txBody>
      </p:sp>
      <p:sp>
        <p:nvSpPr>
          <p:cNvPr id="374" name="Google Shape;374;p40"/>
          <p:cNvSpPr txBox="1"/>
          <p:nvPr/>
        </p:nvSpPr>
        <p:spPr>
          <a:xfrm>
            <a:off x="312000" y="4084925"/>
            <a:ext cx="75636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550" u="sng">
                <a:solidFill>
                  <a:schemeClr val="dk1"/>
                </a:solidFill>
                <a:latin typeface="Merriweather"/>
                <a:ea typeface="Merriweather"/>
                <a:cs typeface="Merriweather"/>
                <a:sym typeface="Merriweather"/>
              </a:rPr>
              <a:t>Feelings About Vegetable Consumption (EMM)</a:t>
            </a:r>
            <a:endParaRPr b="1" sz="1550" u="sng">
              <a:solidFill>
                <a:schemeClr val="dk1"/>
              </a:solidFill>
              <a:latin typeface="Merriweather"/>
              <a:ea typeface="Merriweather"/>
              <a:cs typeface="Merriweather"/>
              <a:sym typeface="Merriweather"/>
            </a:endParaRPr>
          </a:p>
        </p:txBody>
      </p:sp>
      <p:sp>
        <p:nvSpPr>
          <p:cNvPr id="375" name="Google Shape;375;p40"/>
          <p:cNvSpPr txBox="1"/>
          <p:nvPr/>
        </p:nvSpPr>
        <p:spPr>
          <a:xfrm>
            <a:off x="405000" y="1563946"/>
            <a:ext cx="8334000" cy="8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hlink"/>
                </a:solidFill>
              </a:rPr>
              <a:t>Women are more likely to cook than men at the educational level of “some college”, which may result in a gender imbalance in dining hall attendance. </a:t>
            </a:r>
            <a:endParaRPr sz="1200">
              <a:solidFill>
                <a:schemeClr val="hlink"/>
              </a:solidFill>
            </a:endParaRPr>
          </a:p>
          <a:p>
            <a:pPr indent="0" lvl="0" marL="0" rtl="0" algn="l">
              <a:spcBef>
                <a:spcPts val="0"/>
              </a:spcBef>
              <a:spcAft>
                <a:spcPts val="0"/>
              </a:spcAft>
              <a:buNone/>
            </a:pPr>
            <a:r>
              <a:rPr lang="en" sz="1200">
                <a:solidFill>
                  <a:schemeClr val="hlink"/>
                </a:solidFill>
              </a:rPr>
              <a:t>Women have stronger knowledge and belief in dietary guidelines. Students reported that their individual knowledge of dietary guidelines impacted their food choices. This shows how gender impacts vegetable consumption.</a:t>
            </a:r>
            <a:endParaRPr sz="1200">
              <a:solidFill>
                <a:schemeClr val="dk2"/>
              </a:solidFill>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t/>
            </a:r>
            <a:endParaRPr sz="1200">
              <a:solidFill>
                <a:schemeClr val="dk2"/>
              </a:solidFill>
              <a:latin typeface="DM Sans"/>
              <a:ea typeface="DM Sans"/>
              <a:cs typeface="DM Sans"/>
              <a:sym typeface="DM Sans"/>
            </a:endParaRPr>
          </a:p>
        </p:txBody>
      </p:sp>
      <p:sp>
        <p:nvSpPr>
          <p:cNvPr id="376" name="Google Shape;376;p40"/>
          <p:cNvSpPr txBox="1"/>
          <p:nvPr/>
        </p:nvSpPr>
        <p:spPr>
          <a:xfrm>
            <a:off x="405000" y="2970573"/>
            <a:ext cx="8334000" cy="8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hlink"/>
                </a:solidFill>
              </a:rPr>
              <a:t>The cost of one meal at a dining hall at UNC can be &gt; 15 dollars, and meal plans at UNC can cost up to $3,398.53 per semester.</a:t>
            </a:r>
            <a:endParaRPr baseline="30000" sz="1200">
              <a:solidFill>
                <a:schemeClr val="hlink"/>
              </a:solidFill>
            </a:endParaRPr>
          </a:p>
          <a:p>
            <a:pPr indent="0" lvl="0" marL="0" rtl="0" algn="l">
              <a:spcBef>
                <a:spcPts val="0"/>
              </a:spcBef>
              <a:spcAft>
                <a:spcPts val="0"/>
              </a:spcAft>
              <a:buNone/>
            </a:pPr>
            <a:r>
              <a:rPr lang="en" sz="1200">
                <a:solidFill>
                  <a:schemeClr val="hlink"/>
                </a:solidFill>
              </a:rPr>
              <a:t>Cost influences student food choices heavily, deterring low SES students from relying on the dining hall as a food source. Groups with higher socioeconomic status are more likely to consume fruits or vegetables.</a:t>
            </a:r>
            <a:r>
              <a:rPr baseline="30000" lang="en" sz="1200">
                <a:solidFill>
                  <a:schemeClr val="hlink"/>
                </a:solidFill>
              </a:rPr>
              <a:t>8</a:t>
            </a:r>
            <a:endParaRPr baseline="30000" sz="1200">
              <a:solidFill>
                <a:schemeClr val="dk2"/>
              </a:solidFill>
              <a:latin typeface="DM Sans"/>
              <a:ea typeface="DM Sans"/>
              <a:cs typeface="DM Sans"/>
              <a:sym typeface="DM Sans"/>
            </a:endParaRPr>
          </a:p>
        </p:txBody>
      </p:sp>
      <p:sp>
        <p:nvSpPr>
          <p:cNvPr id="377" name="Google Shape;377;p40"/>
          <p:cNvSpPr txBox="1"/>
          <p:nvPr/>
        </p:nvSpPr>
        <p:spPr>
          <a:xfrm>
            <a:off x="405000" y="4379187"/>
            <a:ext cx="83340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hlink"/>
                </a:solidFill>
              </a:rPr>
              <a:t>At the university level, students reported that their individual knowledge of dietary guidelines impacted their food choices, with one reporting that they “...don’t like vegetables, but I know that I need it and that’s why I eat vegetables”</a:t>
            </a:r>
            <a:endParaRPr sz="1200">
              <a:solidFill>
                <a:schemeClr val="dk2"/>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1"/>
          <p:cNvSpPr txBox="1"/>
          <p:nvPr>
            <p:ph idx="12" type="sldNum"/>
          </p:nvPr>
        </p:nvSpPr>
        <p:spPr>
          <a:xfrm>
            <a:off x="8472458" y="466344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4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Agenda</a:t>
            </a:r>
            <a:endParaRPr/>
          </a:p>
        </p:txBody>
      </p:sp>
      <p:sp>
        <p:nvSpPr>
          <p:cNvPr id="384" name="Google Shape;384;p4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385" name="Google Shape;385;p41"/>
          <p:cNvSpPr txBox="1"/>
          <p:nvPr/>
        </p:nvSpPr>
        <p:spPr>
          <a:xfrm>
            <a:off x="516437" y="8209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a:t>
            </a:r>
            <a:endParaRPr b="1" sz="3650">
              <a:solidFill>
                <a:schemeClr val="accent2"/>
              </a:solidFill>
              <a:latin typeface="Merriweather"/>
              <a:ea typeface="Merriweather"/>
              <a:cs typeface="Merriweather"/>
              <a:sym typeface="Merriweather"/>
            </a:endParaRPr>
          </a:p>
        </p:txBody>
      </p:sp>
      <p:sp>
        <p:nvSpPr>
          <p:cNvPr id="386" name="Google Shape;386;p41"/>
          <p:cNvSpPr txBox="1"/>
          <p:nvPr/>
        </p:nvSpPr>
        <p:spPr>
          <a:xfrm>
            <a:off x="516437" y="16605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Methods</a:t>
            </a:r>
            <a:endParaRPr b="1" sz="3650">
              <a:solidFill>
                <a:schemeClr val="accent2"/>
              </a:solidFill>
              <a:latin typeface="Merriweather"/>
              <a:ea typeface="Merriweather"/>
              <a:cs typeface="Merriweather"/>
              <a:sym typeface="Merriweather"/>
            </a:endParaRPr>
          </a:p>
        </p:txBody>
      </p:sp>
      <p:sp>
        <p:nvSpPr>
          <p:cNvPr id="387" name="Google Shape;387;p41"/>
          <p:cNvSpPr txBox="1"/>
          <p:nvPr/>
        </p:nvSpPr>
        <p:spPr>
          <a:xfrm>
            <a:off x="516437" y="24999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Results</a:t>
            </a:r>
            <a:endParaRPr b="1" sz="3650">
              <a:solidFill>
                <a:schemeClr val="dk1"/>
              </a:solidFill>
              <a:latin typeface="Merriweather"/>
              <a:ea typeface="Merriweather"/>
              <a:cs typeface="Merriweather"/>
              <a:sym typeface="Merriweather"/>
            </a:endParaRPr>
          </a:p>
        </p:txBody>
      </p:sp>
      <p:sp>
        <p:nvSpPr>
          <p:cNvPr id="388" name="Google Shape;388;p41"/>
          <p:cNvSpPr txBox="1"/>
          <p:nvPr/>
        </p:nvSpPr>
        <p:spPr>
          <a:xfrm>
            <a:off x="516437" y="33326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Discussion</a:t>
            </a:r>
            <a:endParaRPr b="1" sz="3650">
              <a:solidFill>
                <a:schemeClr val="accent2"/>
              </a:solidFill>
              <a:latin typeface="Merriweather"/>
              <a:ea typeface="Merriweather"/>
              <a:cs typeface="Merriweather"/>
              <a:sym typeface="Merriweather"/>
            </a:endParaRPr>
          </a:p>
        </p:txBody>
      </p:sp>
      <p:sp>
        <p:nvSpPr>
          <p:cNvPr id="389" name="Google Shape;389;p41"/>
          <p:cNvSpPr txBox="1"/>
          <p:nvPr/>
        </p:nvSpPr>
        <p:spPr>
          <a:xfrm>
            <a:off x="196954" y="8209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390" name="Google Shape;390;p41"/>
          <p:cNvSpPr txBox="1"/>
          <p:nvPr/>
        </p:nvSpPr>
        <p:spPr>
          <a:xfrm>
            <a:off x="196954" y="16605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391" name="Google Shape;391;p41"/>
          <p:cNvSpPr txBox="1"/>
          <p:nvPr/>
        </p:nvSpPr>
        <p:spPr>
          <a:xfrm>
            <a:off x="196954" y="24999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3.</a:t>
            </a:r>
            <a:endParaRPr b="1" sz="1450">
              <a:solidFill>
                <a:schemeClr val="dk1"/>
              </a:solidFill>
              <a:latin typeface="Merriweather"/>
              <a:ea typeface="Merriweather"/>
              <a:cs typeface="Merriweather"/>
              <a:sym typeface="Merriweather"/>
            </a:endParaRPr>
          </a:p>
        </p:txBody>
      </p:sp>
      <p:sp>
        <p:nvSpPr>
          <p:cNvPr id="392" name="Google Shape;392;p41"/>
          <p:cNvSpPr txBox="1"/>
          <p:nvPr/>
        </p:nvSpPr>
        <p:spPr>
          <a:xfrm>
            <a:off x="196954" y="33326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42"/>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Results</a:t>
            </a:r>
            <a:endParaRPr/>
          </a:p>
        </p:txBody>
      </p:sp>
      <p:sp>
        <p:nvSpPr>
          <p:cNvPr id="399" name="Google Shape;399;p42"/>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00" name="Google Shape;400;p42"/>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Descriptive Statistics</a:t>
            </a:r>
            <a:endParaRPr b="1" sz="3650">
              <a:solidFill>
                <a:schemeClr val="dk1"/>
              </a:solidFill>
              <a:latin typeface="Merriweather"/>
              <a:ea typeface="Merriweather"/>
              <a:cs typeface="Merriweather"/>
              <a:sym typeface="Merriweather"/>
            </a:endParaRPr>
          </a:p>
        </p:txBody>
      </p:sp>
      <p:graphicFrame>
        <p:nvGraphicFramePr>
          <p:cNvPr id="401" name="Google Shape;401;p42"/>
          <p:cNvGraphicFramePr/>
          <p:nvPr/>
        </p:nvGraphicFramePr>
        <p:xfrm>
          <a:off x="1249963" y="1128350"/>
          <a:ext cx="3000000" cy="3000000"/>
        </p:xfrm>
        <a:graphic>
          <a:graphicData uri="http://schemas.openxmlformats.org/drawingml/2006/table">
            <a:tbl>
              <a:tblPr>
                <a:noFill/>
                <a:tableStyleId>{DA4040C1-71AD-44E9-963E-F1282BABF5D8}</a:tableStyleId>
              </a:tblPr>
              <a:tblGrid>
                <a:gridCol w="1795400"/>
                <a:gridCol w="3183750"/>
                <a:gridCol w="1664925"/>
              </a:tblGrid>
              <a:tr h="395775">
                <a:tc gridSpan="3">
                  <a:txBody>
                    <a:bodyPr/>
                    <a:lstStyle/>
                    <a:p>
                      <a:pPr indent="0" lvl="0" marL="6350" rtl="0" algn="l">
                        <a:spcBef>
                          <a:spcPts val="0"/>
                        </a:spcBef>
                        <a:spcAft>
                          <a:spcPts val="0"/>
                        </a:spcAft>
                        <a:buNone/>
                      </a:pPr>
                      <a:r>
                        <a:rPr b="1" lang="en" sz="1100">
                          <a:solidFill>
                            <a:schemeClr val="accent3"/>
                          </a:solidFill>
                        </a:rPr>
                        <a:t>Table 1. Prevalence of Campus Dining Frequency, Vegetable Consumption, and Key Potential Confounding Variables in UNC Students (n = 84)</a:t>
                      </a:r>
                      <a:endParaRPr b="1" sz="1100">
                        <a:solidFill>
                          <a:schemeClr val="accent3"/>
                        </a:solidFill>
                      </a:endParaRPr>
                    </a:p>
                  </a:txBody>
                  <a:tcPr marT="22850" marB="22850" marR="22850" marL="22850" anchor="ctr">
                    <a:solidFill>
                      <a:schemeClr val="dk1"/>
                    </a:solidFill>
                  </a:tcPr>
                </a:tc>
                <a:tc hMerge="1"/>
                <a:tc hMerge="1"/>
              </a:tr>
              <a:tr h="221175">
                <a:tc>
                  <a:txBody>
                    <a:bodyPr/>
                    <a:lstStyle/>
                    <a:p>
                      <a:pPr indent="0" lvl="0" marL="0" rtl="0" algn="l">
                        <a:spcBef>
                          <a:spcPts val="0"/>
                        </a:spcBef>
                        <a:spcAft>
                          <a:spcPts val="0"/>
                        </a:spcAft>
                        <a:buNone/>
                      </a:pPr>
                      <a:r>
                        <a:rPr b="1" lang="en" sz="1100">
                          <a:solidFill>
                            <a:schemeClr val="accent3"/>
                          </a:solidFill>
                        </a:rPr>
                        <a:t>Variable</a:t>
                      </a:r>
                      <a:endParaRPr sz="1100">
                        <a:solidFill>
                          <a:schemeClr val="accent3"/>
                        </a:solidFill>
                      </a:endParaRPr>
                    </a:p>
                  </a:txBody>
                  <a:tcPr marT="22850" marB="22850" marR="22850" marL="22850" anchor="ctr">
                    <a:solidFill>
                      <a:schemeClr val="dk1"/>
                    </a:solidFill>
                  </a:tcPr>
                </a:tc>
                <a:tc>
                  <a:txBody>
                    <a:bodyPr/>
                    <a:lstStyle/>
                    <a:p>
                      <a:pPr indent="0" lvl="0" marL="0" rtl="0" algn="l">
                        <a:spcBef>
                          <a:spcPts val="0"/>
                        </a:spcBef>
                        <a:spcAft>
                          <a:spcPts val="0"/>
                        </a:spcAft>
                        <a:buNone/>
                      </a:pPr>
                      <a:r>
                        <a:rPr b="1" lang="en" sz="1100">
                          <a:solidFill>
                            <a:schemeClr val="accent3"/>
                          </a:solidFill>
                        </a:rPr>
                        <a:t>Response</a:t>
                      </a:r>
                      <a:endParaRPr sz="1100">
                        <a:solidFill>
                          <a:schemeClr val="accent3"/>
                        </a:solidFill>
                      </a:endParaRPr>
                    </a:p>
                  </a:txBody>
                  <a:tcPr marT="22850" marB="22850" marR="22850" marL="22850" anchor="ctr">
                    <a:solidFill>
                      <a:schemeClr val="dk1"/>
                    </a:solidFill>
                  </a:tcPr>
                </a:tc>
                <a:tc>
                  <a:txBody>
                    <a:bodyPr/>
                    <a:lstStyle/>
                    <a:p>
                      <a:pPr indent="0" lvl="0" marL="0" rtl="0" algn="l">
                        <a:spcBef>
                          <a:spcPts val="0"/>
                        </a:spcBef>
                        <a:spcAft>
                          <a:spcPts val="0"/>
                        </a:spcAft>
                        <a:buNone/>
                      </a:pPr>
                      <a:r>
                        <a:rPr b="1" lang="en" sz="1100">
                          <a:solidFill>
                            <a:schemeClr val="accent3"/>
                          </a:solidFill>
                        </a:rPr>
                        <a:t>N (%) (or Mean</a:t>
                      </a:r>
                      <a:r>
                        <a:rPr lang="en" sz="1100">
                          <a:solidFill>
                            <a:schemeClr val="accent3"/>
                          </a:solidFill>
                        </a:rPr>
                        <a:t> ± SD)</a:t>
                      </a:r>
                      <a:endParaRPr sz="1100">
                        <a:solidFill>
                          <a:schemeClr val="accent3"/>
                        </a:solidFill>
                      </a:endParaRPr>
                    </a:p>
                  </a:txBody>
                  <a:tcPr marT="22850" marB="22850" marR="22850" marL="22850" anchor="ctr">
                    <a:solidFill>
                      <a:schemeClr val="dk1"/>
                    </a:solidFill>
                  </a:tcPr>
                </a:tc>
              </a:tr>
              <a:tr h="349250">
                <a:tc>
                  <a:txBody>
                    <a:bodyPr/>
                    <a:lstStyle/>
                    <a:p>
                      <a:pPr indent="0" lvl="0" marL="0" rtl="0" algn="l">
                        <a:spcBef>
                          <a:spcPts val="0"/>
                        </a:spcBef>
                        <a:spcAft>
                          <a:spcPts val="0"/>
                        </a:spcAft>
                        <a:buNone/>
                      </a:pPr>
                      <a:r>
                        <a:rPr b="1" i="1" lang="en" sz="1100">
                          <a:solidFill>
                            <a:schemeClr val="accent3"/>
                          </a:solidFill>
                        </a:rPr>
                        <a:t>Exposure (Eating on      Campus)</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Infrequent eating on campus (≤5 time/week)</a:t>
                      </a:r>
                      <a:endParaRPr sz="1100"/>
                    </a:p>
                  </a:txBody>
                  <a:tcPr marT="0" marB="0" marR="0" marL="0" anchor="ctr"/>
                </a:tc>
                <a:tc>
                  <a:txBody>
                    <a:bodyPr/>
                    <a:lstStyle/>
                    <a:p>
                      <a:pPr indent="0" lvl="0" marL="0" rtl="0" algn="l">
                        <a:spcBef>
                          <a:spcPts val="0"/>
                        </a:spcBef>
                        <a:spcAft>
                          <a:spcPts val="0"/>
                        </a:spcAft>
                        <a:buNone/>
                      </a:pPr>
                      <a:r>
                        <a:rPr lang="en" sz="1100"/>
                        <a:t> </a:t>
                      </a:r>
                      <a:r>
                        <a:rPr lang="en" sz="1100"/>
                        <a:t>72 (85.71%)</a:t>
                      </a:r>
                      <a:endParaRPr sz="1100"/>
                    </a:p>
                  </a:txBody>
                  <a:tcPr marT="0" marB="0" marR="0" marL="0" anchor="ctr"/>
                </a:tc>
              </a:tr>
              <a:tr h="349250">
                <a:tc>
                  <a:txBody>
                    <a:bodyPr/>
                    <a:lstStyle/>
                    <a:p>
                      <a:pPr indent="0" lvl="0" marL="0" rtl="0" algn="l">
                        <a:spcBef>
                          <a:spcPts val="0"/>
                        </a:spcBef>
                        <a:spcAft>
                          <a:spcPts val="0"/>
                        </a:spcAft>
                        <a:buNone/>
                      </a:pPr>
                      <a:r>
                        <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Frequent eating on campus (≥5 times/week)</a:t>
                      </a:r>
                      <a:endParaRPr sz="1100"/>
                    </a:p>
                  </a:txBody>
                  <a:tcPr marT="0" marB="0" marR="0" marL="0" anchor="ctr"/>
                </a:tc>
                <a:tc>
                  <a:txBody>
                    <a:bodyPr/>
                    <a:lstStyle/>
                    <a:p>
                      <a:pPr indent="0" lvl="0" marL="0" rtl="0" algn="l">
                        <a:spcBef>
                          <a:spcPts val="0"/>
                        </a:spcBef>
                        <a:spcAft>
                          <a:spcPts val="0"/>
                        </a:spcAft>
                        <a:buNone/>
                      </a:pPr>
                      <a:r>
                        <a:rPr lang="en" sz="1100"/>
                        <a:t> </a:t>
                      </a:r>
                      <a:r>
                        <a:rPr lang="en" sz="1100"/>
                        <a:t>12 (14.29%)</a:t>
                      </a:r>
                      <a:endParaRPr sz="1100"/>
                    </a:p>
                  </a:txBody>
                  <a:tcPr marT="0" marB="0" marR="0" marL="0" anchor="ctr"/>
                </a:tc>
              </a:tr>
              <a:tr h="698500">
                <a:tc>
                  <a:txBody>
                    <a:bodyPr/>
                    <a:lstStyle/>
                    <a:p>
                      <a:pPr indent="0" lvl="0" marL="0" rtl="0" algn="l">
                        <a:spcBef>
                          <a:spcPts val="0"/>
                        </a:spcBef>
                        <a:spcAft>
                          <a:spcPts val="0"/>
                        </a:spcAft>
                        <a:buNone/>
                      </a:pPr>
                      <a:r>
                        <a:rPr b="1" i="1" lang="en" sz="1100">
                          <a:solidFill>
                            <a:schemeClr val="accent3"/>
                          </a:solidFill>
                        </a:rPr>
                        <a:t>Outcome (Adequate Vegetable Consumption, </a:t>
                      </a:r>
                      <a:r>
                        <a:rPr b="1" lang="en" sz="1100">
                          <a:solidFill>
                            <a:schemeClr val="accent3"/>
                          </a:solidFill>
                        </a:rPr>
                        <a:t>≥ 7 portions/week</a:t>
                      </a:r>
                      <a:r>
                        <a:rPr b="1" i="1" lang="en" sz="1100">
                          <a:solidFill>
                            <a:schemeClr val="accent3"/>
                          </a:solidFill>
                        </a:rPr>
                        <a:t>)</a:t>
                      </a:r>
                      <a:endParaRPr b="1"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Yes</a:t>
                      </a:r>
                      <a:endParaRPr sz="1100"/>
                    </a:p>
                  </a:txBody>
                  <a:tcPr marT="0" marB="0" marR="0" marL="0" anchor="ctr"/>
                </a:tc>
                <a:tc>
                  <a:txBody>
                    <a:bodyPr/>
                    <a:lstStyle/>
                    <a:p>
                      <a:pPr indent="0" lvl="0" marL="0" rtl="0" algn="l">
                        <a:spcBef>
                          <a:spcPts val="0"/>
                        </a:spcBef>
                        <a:spcAft>
                          <a:spcPts val="0"/>
                        </a:spcAft>
                        <a:buNone/>
                      </a:pPr>
                      <a:r>
                        <a:rPr lang="en" sz="1100"/>
                        <a:t> 34 (40.48%)</a:t>
                      </a:r>
                      <a:endParaRPr sz="1100"/>
                    </a:p>
                  </a:txBody>
                  <a:tcPr marT="0" marB="0" marR="0" marL="0" anchor="ctr"/>
                </a:tc>
              </a:tr>
              <a:tr h="174625">
                <a:tc>
                  <a:txBody>
                    <a:bodyPr/>
                    <a:lstStyle/>
                    <a:p>
                      <a:pPr indent="0" lvl="0" marL="0" rtl="0" algn="l">
                        <a:spcBef>
                          <a:spcPts val="0"/>
                        </a:spcBef>
                        <a:spcAft>
                          <a:spcPts val="0"/>
                        </a:spcAft>
                        <a:buNone/>
                      </a:pPr>
                      <a:r>
                        <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No</a:t>
                      </a:r>
                      <a:endParaRPr sz="1100"/>
                    </a:p>
                  </a:txBody>
                  <a:tcPr marT="0" marB="0" marR="0" marL="0" anchor="ctr"/>
                </a:tc>
                <a:tc>
                  <a:txBody>
                    <a:bodyPr/>
                    <a:lstStyle/>
                    <a:p>
                      <a:pPr indent="0" lvl="0" marL="0" rtl="0" algn="l">
                        <a:spcBef>
                          <a:spcPts val="0"/>
                        </a:spcBef>
                        <a:spcAft>
                          <a:spcPts val="0"/>
                        </a:spcAft>
                        <a:buNone/>
                      </a:pPr>
                      <a:r>
                        <a:rPr lang="en" sz="1100"/>
                        <a:t> 50</a:t>
                      </a:r>
                      <a:r>
                        <a:rPr lang="en" sz="1100"/>
                        <a:t> (59.52%)</a:t>
                      </a:r>
                      <a:endParaRPr sz="1100"/>
                    </a:p>
                  </a:txBody>
                  <a:tcPr marT="0" marB="0" marR="0" marL="0" anchor="ctr"/>
                </a:tc>
              </a:tr>
              <a:tr h="174625">
                <a:tc>
                  <a:txBody>
                    <a:bodyPr/>
                    <a:lstStyle/>
                    <a:p>
                      <a:pPr indent="0" lvl="0" marL="0" rtl="0" algn="l">
                        <a:spcBef>
                          <a:spcPts val="0"/>
                        </a:spcBef>
                        <a:spcAft>
                          <a:spcPts val="0"/>
                        </a:spcAft>
                        <a:buNone/>
                      </a:pPr>
                      <a:r>
                        <a:rPr b="1" i="1" lang="en" sz="1100">
                          <a:solidFill>
                            <a:schemeClr val="accent3"/>
                          </a:solidFill>
                        </a:rPr>
                        <a:t>Covariate (Gender)</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Male</a:t>
                      </a:r>
                      <a:endParaRPr sz="1100"/>
                    </a:p>
                  </a:txBody>
                  <a:tcPr marT="0" marB="0" marR="0" marL="0" anchor="ctr"/>
                </a:tc>
                <a:tc>
                  <a:txBody>
                    <a:bodyPr/>
                    <a:lstStyle/>
                    <a:p>
                      <a:pPr indent="0" lvl="0" marL="0" rtl="0" algn="l">
                        <a:spcBef>
                          <a:spcPts val="0"/>
                        </a:spcBef>
                        <a:spcAft>
                          <a:spcPts val="0"/>
                        </a:spcAft>
                        <a:buNone/>
                      </a:pPr>
                      <a:r>
                        <a:rPr lang="en" sz="1100"/>
                        <a:t> </a:t>
                      </a:r>
                      <a:r>
                        <a:rPr lang="en" sz="1100"/>
                        <a:t>27 (32.14%)</a:t>
                      </a:r>
                      <a:endParaRPr sz="1100"/>
                    </a:p>
                  </a:txBody>
                  <a:tcPr marT="0" marB="0" marR="0" marL="0" anchor="ctr"/>
                </a:tc>
              </a:tr>
              <a:tr h="174625">
                <a:tc>
                  <a:txBody>
                    <a:bodyPr/>
                    <a:lstStyle/>
                    <a:p>
                      <a:pPr indent="0" lvl="0" marL="0" rtl="0" algn="l">
                        <a:spcBef>
                          <a:spcPts val="0"/>
                        </a:spcBef>
                        <a:spcAft>
                          <a:spcPts val="0"/>
                        </a:spcAft>
                        <a:buNone/>
                      </a:pPr>
                      <a:r>
                        <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Female</a:t>
                      </a:r>
                      <a:endParaRPr sz="1100"/>
                    </a:p>
                  </a:txBody>
                  <a:tcPr marT="0" marB="0" marR="0" marL="0" anchor="ctr"/>
                </a:tc>
                <a:tc>
                  <a:txBody>
                    <a:bodyPr/>
                    <a:lstStyle/>
                    <a:p>
                      <a:pPr indent="0" lvl="0" marL="0" rtl="0" algn="l">
                        <a:spcBef>
                          <a:spcPts val="0"/>
                        </a:spcBef>
                        <a:spcAft>
                          <a:spcPts val="0"/>
                        </a:spcAft>
                        <a:buNone/>
                      </a:pPr>
                      <a:r>
                        <a:rPr lang="en" sz="1100"/>
                        <a:t> 49</a:t>
                      </a:r>
                      <a:r>
                        <a:rPr lang="en" sz="1100"/>
                        <a:t> (58.33%)</a:t>
                      </a:r>
                      <a:endParaRPr sz="1100"/>
                    </a:p>
                  </a:txBody>
                  <a:tcPr marT="0" marB="0" marR="0" marL="0" anchor="ctr"/>
                </a:tc>
              </a:tr>
              <a:tr h="174625">
                <a:tc>
                  <a:txBody>
                    <a:bodyPr/>
                    <a:lstStyle/>
                    <a:p>
                      <a:pPr indent="0" lvl="0" marL="0" rtl="0" algn="l">
                        <a:spcBef>
                          <a:spcPts val="0"/>
                        </a:spcBef>
                        <a:spcAft>
                          <a:spcPts val="0"/>
                        </a:spcAft>
                        <a:buNone/>
                      </a:pPr>
                      <a:r>
                        <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a:t>
                      </a:r>
                      <a:r>
                        <a:rPr lang="en" sz="1100"/>
                        <a:t>Non-binary/Third gender</a:t>
                      </a:r>
                      <a:endParaRPr sz="1100"/>
                    </a:p>
                  </a:txBody>
                  <a:tcPr marT="0" marB="0" marR="0" marL="0" anchor="ctr"/>
                </a:tc>
                <a:tc>
                  <a:txBody>
                    <a:bodyPr/>
                    <a:lstStyle/>
                    <a:p>
                      <a:pPr indent="0" lvl="0" marL="0" rtl="0" algn="l">
                        <a:spcBef>
                          <a:spcPts val="0"/>
                        </a:spcBef>
                        <a:spcAft>
                          <a:spcPts val="0"/>
                        </a:spcAft>
                        <a:buNone/>
                      </a:pPr>
                      <a:r>
                        <a:rPr lang="en" sz="1100"/>
                        <a:t> </a:t>
                      </a:r>
                      <a:r>
                        <a:rPr lang="en" sz="1100"/>
                        <a:t>8 (9.52%)</a:t>
                      </a:r>
                      <a:endParaRPr sz="1100"/>
                    </a:p>
                  </a:txBody>
                  <a:tcPr marT="0" marB="0" marR="0" marL="0" anchor="ctr"/>
                </a:tc>
              </a:tr>
              <a:tr h="349250">
                <a:tc>
                  <a:txBody>
                    <a:bodyPr/>
                    <a:lstStyle/>
                    <a:p>
                      <a:pPr indent="0" lvl="0" marL="0" rtl="0" algn="l">
                        <a:spcBef>
                          <a:spcPts val="0"/>
                        </a:spcBef>
                        <a:spcAft>
                          <a:spcPts val="0"/>
                        </a:spcAft>
                        <a:buNone/>
                      </a:pPr>
                      <a:r>
                        <a:rPr b="1" i="1" lang="en" sz="1100">
                          <a:solidFill>
                            <a:schemeClr val="accent3"/>
                          </a:solidFill>
                        </a:rPr>
                        <a:t>Financial Barriers to Food Access</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Experiences Financial Insecurity</a:t>
                      </a:r>
                      <a:endParaRPr sz="1100"/>
                    </a:p>
                  </a:txBody>
                  <a:tcPr marT="0" marB="0" marR="0" marL="0" anchor="ctr"/>
                </a:tc>
                <a:tc>
                  <a:txBody>
                    <a:bodyPr/>
                    <a:lstStyle/>
                    <a:p>
                      <a:pPr indent="0" lvl="0" marL="0" rtl="0" algn="l">
                        <a:spcBef>
                          <a:spcPts val="0"/>
                        </a:spcBef>
                        <a:spcAft>
                          <a:spcPts val="0"/>
                        </a:spcAft>
                        <a:buNone/>
                      </a:pPr>
                      <a:r>
                        <a:rPr lang="en" sz="1100"/>
                        <a:t> 11</a:t>
                      </a:r>
                      <a:r>
                        <a:rPr lang="en" sz="1100"/>
                        <a:t> (13.10%)</a:t>
                      </a:r>
                      <a:endParaRPr sz="1100"/>
                    </a:p>
                  </a:txBody>
                  <a:tcPr marT="0" marB="0" marR="0" marL="0" anchor="ctr"/>
                </a:tc>
              </a:tr>
              <a:tr h="349250">
                <a:tc>
                  <a:txBody>
                    <a:bodyPr/>
                    <a:lstStyle/>
                    <a:p>
                      <a:pPr indent="0" lvl="0" marL="0" rtl="0" algn="l">
                        <a:spcBef>
                          <a:spcPts val="0"/>
                        </a:spcBef>
                        <a:spcAft>
                          <a:spcPts val="0"/>
                        </a:spcAft>
                        <a:buNone/>
                      </a:pPr>
                      <a:r>
                        <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Does not Experience Financial Insecurity</a:t>
                      </a:r>
                      <a:endParaRPr sz="1100"/>
                    </a:p>
                  </a:txBody>
                  <a:tcPr marT="0" marB="0" marR="0" marL="0" anchor="ctr"/>
                </a:tc>
                <a:tc>
                  <a:txBody>
                    <a:bodyPr/>
                    <a:lstStyle/>
                    <a:p>
                      <a:pPr indent="0" lvl="0" marL="0" rtl="0" algn="l">
                        <a:spcBef>
                          <a:spcPts val="0"/>
                        </a:spcBef>
                        <a:spcAft>
                          <a:spcPts val="0"/>
                        </a:spcAft>
                        <a:buNone/>
                      </a:pPr>
                      <a:r>
                        <a:rPr lang="en" sz="1100"/>
                        <a:t> 73</a:t>
                      </a:r>
                      <a:r>
                        <a:rPr lang="en" sz="1100"/>
                        <a:t> (86.90%)</a:t>
                      </a:r>
                      <a:endParaRPr sz="1100"/>
                    </a:p>
                  </a:txBody>
                  <a:tcPr marT="0" marB="0" marR="0" marL="0" anchor="ctr"/>
                </a:tc>
              </a:tr>
              <a:tr h="174625">
                <a:tc>
                  <a:txBody>
                    <a:bodyPr/>
                    <a:lstStyle/>
                    <a:p>
                      <a:pPr indent="0" lvl="0" marL="0" rtl="0" algn="l">
                        <a:spcBef>
                          <a:spcPts val="0"/>
                        </a:spcBef>
                        <a:spcAft>
                          <a:spcPts val="0"/>
                        </a:spcAft>
                        <a:buNone/>
                      </a:pPr>
                      <a:r>
                        <a:rPr b="1" i="1" lang="en" sz="1100">
                          <a:solidFill>
                            <a:schemeClr val="accent3"/>
                          </a:solidFill>
                        </a:rPr>
                        <a:t>Feelings about Vegetable Consumption</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Content with Vegetable Consumption Levels</a:t>
                      </a:r>
                      <a:endParaRPr sz="1100"/>
                    </a:p>
                  </a:txBody>
                  <a:tcPr marT="0" marB="0" marR="0" marL="0" anchor="ctr"/>
                </a:tc>
                <a:tc>
                  <a:txBody>
                    <a:bodyPr/>
                    <a:lstStyle/>
                    <a:p>
                      <a:pPr indent="0" lvl="0" marL="0" rtl="0" algn="l">
                        <a:spcBef>
                          <a:spcPts val="0"/>
                        </a:spcBef>
                        <a:spcAft>
                          <a:spcPts val="0"/>
                        </a:spcAft>
                        <a:buNone/>
                      </a:pPr>
                      <a:r>
                        <a:rPr lang="en" sz="1100"/>
                        <a:t> 36</a:t>
                      </a:r>
                      <a:r>
                        <a:rPr lang="en" sz="1100"/>
                        <a:t> (42.86%)</a:t>
                      </a:r>
                      <a:endParaRPr sz="1100"/>
                    </a:p>
                  </a:txBody>
                  <a:tcPr marT="0" marB="0" marR="0" marL="0" anchor="ctr"/>
                </a:tc>
              </a:tr>
              <a:tr h="174625">
                <a:tc>
                  <a:txBody>
                    <a:bodyPr/>
                    <a:lstStyle/>
                    <a:p>
                      <a:pPr indent="0" lvl="0" marL="0" rtl="0" algn="l">
                        <a:spcBef>
                          <a:spcPts val="0"/>
                        </a:spcBef>
                        <a:spcAft>
                          <a:spcPts val="0"/>
                        </a:spcAft>
                        <a:buNone/>
                      </a:pPr>
                      <a:r>
                        <a:t/>
                      </a:r>
                      <a:endParaRPr sz="1100">
                        <a:solidFill>
                          <a:schemeClr val="accent3"/>
                        </a:solidFill>
                      </a:endParaRPr>
                    </a:p>
                  </a:txBody>
                  <a:tcPr marT="0" marB="0" marR="0" marL="0" anchor="ctr">
                    <a:solidFill>
                      <a:schemeClr val="dk1"/>
                    </a:solidFill>
                  </a:tcPr>
                </a:tc>
                <a:tc>
                  <a:txBody>
                    <a:bodyPr/>
                    <a:lstStyle/>
                    <a:p>
                      <a:pPr indent="0" lvl="0" marL="0" rtl="0" algn="l">
                        <a:spcBef>
                          <a:spcPts val="0"/>
                        </a:spcBef>
                        <a:spcAft>
                          <a:spcPts val="0"/>
                        </a:spcAft>
                        <a:buNone/>
                      </a:pPr>
                      <a:r>
                        <a:rPr lang="en" sz="1100"/>
                        <a:t> Wish Vegetable Consumption Levels were Higher</a:t>
                      </a:r>
                      <a:endParaRPr sz="1100"/>
                    </a:p>
                  </a:txBody>
                  <a:tcPr marT="0" marB="0" marR="0" marL="0" anchor="ctr"/>
                </a:tc>
                <a:tc>
                  <a:txBody>
                    <a:bodyPr/>
                    <a:lstStyle/>
                    <a:p>
                      <a:pPr indent="0" lvl="0" marL="0" rtl="0" algn="l">
                        <a:spcBef>
                          <a:spcPts val="0"/>
                        </a:spcBef>
                        <a:spcAft>
                          <a:spcPts val="0"/>
                        </a:spcAft>
                        <a:buNone/>
                      </a:pPr>
                      <a:r>
                        <a:rPr lang="en" sz="1100"/>
                        <a:t> 48</a:t>
                      </a:r>
                      <a:r>
                        <a:rPr lang="en" sz="1100"/>
                        <a:t> (57.14%)</a:t>
                      </a:r>
                      <a:endParaRPr sz="1100"/>
                    </a:p>
                  </a:txBody>
                  <a:tcPr marT="0" marB="0" marR="0" marL="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Results</a:t>
            </a:r>
            <a:endParaRPr/>
          </a:p>
        </p:txBody>
      </p:sp>
      <p:sp>
        <p:nvSpPr>
          <p:cNvPr id="408" name="Google Shape;408;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09" name="Google Shape;409;p43"/>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Interpretations</a:t>
            </a:r>
            <a:endParaRPr b="1" sz="3650">
              <a:solidFill>
                <a:schemeClr val="dk1"/>
              </a:solidFill>
              <a:latin typeface="Merriweather"/>
              <a:ea typeface="Merriweather"/>
              <a:cs typeface="Merriweather"/>
              <a:sym typeface="Merriweather"/>
            </a:endParaRPr>
          </a:p>
        </p:txBody>
      </p:sp>
      <p:sp>
        <p:nvSpPr>
          <p:cNvPr id="410" name="Google Shape;410;p43"/>
          <p:cNvSpPr/>
          <p:nvPr/>
        </p:nvSpPr>
        <p:spPr>
          <a:xfrm>
            <a:off x="312000" y="1266375"/>
            <a:ext cx="8520000" cy="97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1" name="Google Shape;411;p43"/>
          <p:cNvSpPr/>
          <p:nvPr/>
        </p:nvSpPr>
        <p:spPr>
          <a:xfrm>
            <a:off x="312000" y="2397603"/>
            <a:ext cx="8520000" cy="97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2" name="Google Shape;412;p43"/>
          <p:cNvSpPr/>
          <p:nvPr/>
        </p:nvSpPr>
        <p:spPr>
          <a:xfrm>
            <a:off x="312000" y="3528825"/>
            <a:ext cx="8520000" cy="1210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13" name="Google Shape;413;p43"/>
          <p:cNvSpPr txBox="1"/>
          <p:nvPr/>
        </p:nvSpPr>
        <p:spPr>
          <a:xfrm>
            <a:off x="312000" y="1286225"/>
            <a:ext cx="45981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Exposure Prevalence</a:t>
            </a:r>
            <a:endParaRPr b="1" sz="1850" u="sng">
              <a:solidFill>
                <a:schemeClr val="dk1"/>
              </a:solidFill>
              <a:latin typeface="Merriweather"/>
              <a:ea typeface="Merriweather"/>
              <a:cs typeface="Merriweather"/>
              <a:sym typeface="Merriweather"/>
            </a:endParaRPr>
          </a:p>
        </p:txBody>
      </p:sp>
      <p:sp>
        <p:nvSpPr>
          <p:cNvPr id="414" name="Google Shape;414;p43"/>
          <p:cNvSpPr txBox="1"/>
          <p:nvPr/>
        </p:nvSpPr>
        <p:spPr>
          <a:xfrm>
            <a:off x="312000" y="2407528"/>
            <a:ext cx="43038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Outcome</a:t>
            </a:r>
            <a:r>
              <a:rPr b="1" lang="en" sz="1850" u="sng">
                <a:solidFill>
                  <a:schemeClr val="dk1"/>
                </a:solidFill>
                <a:latin typeface="Merriweather"/>
                <a:ea typeface="Merriweather"/>
                <a:cs typeface="Merriweather"/>
                <a:sym typeface="Merriweather"/>
              </a:rPr>
              <a:t> Prevalence</a:t>
            </a:r>
            <a:endParaRPr b="1" sz="1850" u="sng">
              <a:solidFill>
                <a:schemeClr val="dk1"/>
              </a:solidFill>
              <a:latin typeface="Merriweather"/>
              <a:ea typeface="Merriweather"/>
              <a:cs typeface="Merriweather"/>
              <a:sym typeface="Merriweather"/>
            </a:endParaRPr>
          </a:p>
        </p:txBody>
      </p:sp>
      <p:sp>
        <p:nvSpPr>
          <p:cNvPr id="415" name="Google Shape;415;p43"/>
          <p:cNvSpPr txBox="1"/>
          <p:nvPr/>
        </p:nvSpPr>
        <p:spPr>
          <a:xfrm>
            <a:off x="335232" y="3536185"/>
            <a:ext cx="4659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Covariate Prevalence</a:t>
            </a:r>
            <a:endParaRPr b="1" sz="1850" u="sng">
              <a:solidFill>
                <a:schemeClr val="dk1"/>
              </a:solidFill>
              <a:latin typeface="Merriweather"/>
              <a:ea typeface="Merriweather"/>
              <a:cs typeface="Merriweather"/>
              <a:sym typeface="Merriweather"/>
            </a:endParaRPr>
          </a:p>
        </p:txBody>
      </p:sp>
      <p:sp>
        <p:nvSpPr>
          <p:cNvPr id="416" name="Google Shape;416;p43"/>
          <p:cNvSpPr txBox="1"/>
          <p:nvPr/>
        </p:nvSpPr>
        <p:spPr>
          <a:xfrm>
            <a:off x="405000" y="1540177"/>
            <a:ext cx="8334000" cy="6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DM Sans"/>
                <a:ea typeface="DM Sans"/>
                <a:cs typeface="DM Sans"/>
                <a:sym typeface="DM Sans"/>
              </a:rPr>
              <a:t>Low prevalence</a:t>
            </a:r>
            <a:r>
              <a:rPr lang="en" sz="1600">
                <a:solidFill>
                  <a:schemeClr val="dk2"/>
                </a:solidFill>
                <a:latin typeface="DM Sans"/>
                <a:ea typeface="DM Sans"/>
                <a:cs typeface="DM Sans"/>
                <a:sym typeface="DM Sans"/>
              </a:rPr>
              <a:t> of eating on campus</a:t>
            </a:r>
            <a:endParaRPr sz="1600">
              <a:solidFill>
                <a:schemeClr val="dk2"/>
              </a:solidFill>
              <a:latin typeface="DM Sans"/>
              <a:ea typeface="DM Sans"/>
              <a:cs typeface="DM Sans"/>
              <a:sym typeface="DM Sans"/>
            </a:endParaRPr>
          </a:p>
          <a:p>
            <a:pPr indent="0" lvl="0" marL="0" rtl="0" algn="l">
              <a:spcBef>
                <a:spcPts val="0"/>
              </a:spcBef>
              <a:spcAft>
                <a:spcPts val="0"/>
              </a:spcAft>
              <a:buNone/>
            </a:pPr>
            <a:r>
              <a:rPr b="1" lang="en" sz="1600">
                <a:solidFill>
                  <a:schemeClr val="dk2"/>
                </a:solidFill>
                <a:latin typeface="DM Sans"/>
                <a:ea typeface="DM Sans"/>
                <a:cs typeface="DM Sans"/>
                <a:sym typeface="DM Sans"/>
              </a:rPr>
              <a:t>14.29%</a:t>
            </a:r>
            <a:r>
              <a:rPr lang="en" sz="1600">
                <a:solidFill>
                  <a:schemeClr val="dk2"/>
                </a:solidFill>
                <a:latin typeface="DM Sans"/>
                <a:ea typeface="DM Sans"/>
                <a:cs typeface="DM Sans"/>
                <a:sym typeface="DM Sans"/>
              </a:rPr>
              <a:t> ate on campus </a:t>
            </a:r>
            <a:r>
              <a:rPr lang="en" sz="1600">
                <a:solidFill>
                  <a:schemeClr val="hlink"/>
                </a:solidFill>
                <a:latin typeface="DM Sans"/>
                <a:ea typeface="DM Sans"/>
                <a:cs typeface="DM Sans"/>
                <a:sym typeface="DM Sans"/>
              </a:rPr>
              <a:t>≥ 5 times weekly</a:t>
            </a:r>
            <a:endParaRPr sz="1600">
              <a:solidFill>
                <a:schemeClr val="dk2"/>
              </a:solidFill>
              <a:latin typeface="DM Sans"/>
              <a:ea typeface="DM Sans"/>
              <a:cs typeface="DM Sans"/>
              <a:sym typeface="DM Sans"/>
            </a:endParaRPr>
          </a:p>
        </p:txBody>
      </p:sp>
      <p:sp>
        <p:nvSpPr>
          <p:cNvPr id="417" name="Google Shape;417;p43"/>
          <p:cNvSpPr txBox="1"/>
          <p:nvPr/>
        </p:nvSpPr>
        <p:spPr>
          <a:xfrm>
            <a:off x="405000" y="2711418"/>
            <a:ext cx="8334000" cy="6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DM Sans"/>
                <a:ea typeface="DM Sans"/>
                <a:cs typeface="DM Sans"/>
                <a:sym typeface="DM Sans"/>
              </a:rPr>
              <a:t>Split prevalence </a:t>
            </a:r>
            <a:r>
              <a:rPr lang="en" sz="1600">
                <a:solidFill>
                  <a:schemeClr val="dk2"/>
                </a:solidFill>
                <a:latin typeface="DM Sans"/>
                <a:ea typeface="DM Sans"/>
                <a:cs typeface="DM Sans"/>
                <a:sym typeface="DM Sans"/>
              </a:rPr>
              <a:t>of adequate vegetable consumption</a:t>
            </a:r>
            <a:endParaRPr sz="1600">
              <a:solidFill>
                <a:schemeClr val="dk2"/>
              </a:solidFill>
              <a:latin typeface="DM Sans"/>
              <a:ea typeface="DM Sans"/>
              <a:cs typeface="DM Sans"/>
              <a:sym typeface="DM Sans"/>
            </a:endParaRPr>
          </a:p>
          <a:p>
            <a:pPr indent="0" lvl="0" marL="0" rtl="0" algn="l">
              <a:spcBef>
                <a:spcPts val="0"/>
              </a:spcBef>
              <a:spcAft>
                <a:spcPts val="0"/>
              </a:spcAft>
              <a:buNone/>
            </a:pPr>
            <a:r>
              <a:rPr b="1" lang="en" sz="1600">
                <a:solidFill>
                  <a:schemeClr val="dk2"/>
                </a:solidFill>
                <a:latin typeface="DM Sans"/>
                <a:ea typeface="DM Sans"/>
                <a:cs typeface="DM Sans"/>
                <a:sym typeface="DM Sans"/>
              </a:rPr>
              <a:t>40.48%</a:t>
            </a:r>
            <a:r>
              <a:rPr lang="en" sz="1600">
                <a:solidFill>
                  <a:schemeClr val="dk2"/>
                </a:solidFill>
                <a:latin typeface="DM Sans"/>
                <a:ea typeface="DM Sans"/>
                <a:cs typeface="DM Sans"/>
                <a:sym typeface="DM Sans"/>
              </a:rPr>
              <a:t> consumed </a:t>
            </a:r>
            <a:r>
              <a:rPr lang="en" sz="1600">
                <a:solidFill>
                  <a:schemeClr val="dk2"/>
                </a:solidFill>
                <a:latin typeface="DM Sans"/>
                <a:ea typeface="DM Sans"/>
                <a:cs typeface="DM Sans"/>
                <a:sym typeface="DM Sans"/>
              </a:rPr>
              <a:t>vegetables </a:t>
            </a:r>
            <a:r>
              <a:rPr lang="en" sz="1600">
                <a:solidFill>
                  <a:schemeClr val="hlink"/>
                </a:solidFill>
                <a:latin typeface="DM Sans"/>
                <a:ea typeface="DM Sans"/>
                <a:cs typeface="DM Sans"/>
                <a:sym typeface="DM Sans"/>
              </a:rPr>
              <a:t>≥ 7 times weekly, while </a:t>
            </a:r>
            <a:r>
              <a:rPr b="1" lang="en" sz="1600">
                <a:solidFill>
                  <a:schemeClr val="hlink"/>
                </a:solidFill>
                <a:latin typeface="DM Sans"/>
                <a:ea typeface="DM Sans"/>
                <a:cs typeface="DM Sans"/>
                <a:sym typeface="DM Sans"/>
              </a:rPr>
              <a:t>59.52% </a:t>
            </a:r>
            <a:r>
              <a:rPr lang="en" sz="1600">
                <a:solidFill>
                  <a:schemeClr val="hlink"/>
                </a:solidFill>
                <a:latin typeface="DM Sans"/>
                <a:ea typeface="DM Sans"/>
                <a:cs typeface="DM Sans"/>
                <a:sym typeface="DM Sans"/>
              </a:rPr>
              <a:t>did not.</a:t>
            </a:r>
            <a:endParaRPr sz="1600">
              <a:solidFill>
                <a:schemeClr val="dk2"/>
              </a:solidFill>
              <a:latin typeface="DM Sans"/>
              <a:ea typeface="DM Sans"/>
              <a:cs typeface="DM Sans"/>
              <a:sym typeface="DM Sans"/>
            </a:endParaRPr>
          </a:p>
        </p:txBody>
      </p:sp>
      <p:sp>
        <p:nvSpPr>
          <p:cNvPr id="418" name="Google Shape;418;p43"/>
          <p:cNvSpPr txBox="1"/>
          <p:nvPr/>
        </p:nvSpPr>
        <p:spPr>
          <a:xfrm>
            <a:off x="405000" y="3851740"/>
            <a:ext cx="8427000" cy="64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2"/>
                </a:solidFill>
                <a:latin typeface="DM Sans"/>
                <a:ea typeface="DM Sans"/>
                <a:cs typeface="DM Sans"/>
                <a:sym typeface="DM Sans"/>
              </a:rPr>
              <a:t>Split </a:t>
            </a:r>
            <a:r>
              <a:rPr b="1" lang="en" sz="1600">
                <a:solidFill>
                  <a:schemeClr val="dk2"/>
                </a:solidFill>
                <a:latin typeface="DM Sans"/>
                <a:ea typeface="DM Sans"/>
                <a:cs typeface="DM Sans"/>
                <a:sym typeface="DM Sans"/>
              </a:rPr>
              <a:t>prevalence</a:t>
            </a:r>
            <a:r>
              <a:rPr lang="en" sz="1600">
                <a:solidFill>
                  <a:schemeClr val="dk2"/>
                </a:solidFill>
                <a:latin typeface="DM Sans"/>
                <a:ea typeface="DM Sans"/>
                <a:cs typeface="DM Sans"/>
                <a:sym typeface="DM Sans"/>
              </a:rPr>
              <a:t> on feelings about vegetable consumption (42.9% content, 57.1% not)</a:t>
            </a:r>
            <a:endParaRPr sz="1600">
              <a:solidFill>
                <a:schemeClr val="dk2"/>
              </a:solidFill>
              <a:latin typeface="DM Sans"/>
              <a:ea typeface="DM Sans"/>
              <a:cs typeface="DM Sans"/>
              <a:sym typeface="DM Sans"/>
            </a:endParaRPr>
          </a:p>
          <a:p>
            <a:pPr indent="0" lvl="0" marL="0" rtl="0" algn="l">
              <a:spcBef>
                <a:spcPts val="0"/>
              </a:spcBef>
              <a:spcAft>
                <a:spcPts val="0"/>
              </a:spcAft>
              <a:buNone/>
            </a:pPr>
            <a:r>
              <a:rPr b="1" lang="en" sz="1600">
                <a:solidFill>
                  <a:schemeClr val="dk2"/>
                </a:solidFill>
                <a:latin typeface="DM Sans"/>
                <a:ea typeface="DM Sans"/>
                <a:cs typeface="DM Sans"/>
                <a:sym typeface="DM Sans"/>
              </a:rPr>
              <a:t>Low prevalence </a:t>
            </a:r>
            <a:r>
              <a:rPr lang="en" sz="1600">
                <a:solidFill>
                  <a:schemeClr val="dk2"/>
                </a:solidFill>
                <a:latin typeface="DM Sans"/>
                <a:ea typeface="DM Sans"/>
                <a:cs typeface="DM Sans"/>
                <a:sym typeface="DM Sans"/>
              </a:rPr>
              <a:t>of financial barriers to food insecurity (13.1%)</a:t>
            </a:r>
            <a:endParaRPr sz="1600">
              <a:solidFill>
                <a:schemeClr val="dk2"/>
              </a:solidFill>
              <a:latin typeface="DM Sans"/>
              <a:ea typeface="DM Sans"/>
              <a:cs typeface="DM Sans"/>
              <a:sym typeface="DM Sans"/>
            </a:endParaRPr>
          </a:p>
          <a:p>
            <a:pPr indent="0" lvl="0" marL="0" rtl="0" algn="l">
              <a:spcBef>
                <a:spcPts val="0"/>
              </a:spcBef>
              <a:spcAft>
                <a:spcPts val="0"/>
              </a:spcAft>
              <a:buNone/>
            </a:pPr>
            <a:r>
              <a:rPr lang="en" sz="1600">
                <a:solidFill>
                  <a:schemeClr val="dk2"/>
                </a:solidFill>
                <a:latin typeface="DM Sans"/>
                <a:ea typeface="DM Sans"/>
                <a:cs typeface="DM Sans"/>
                <a:sym typeface="DM Sans"/>
              </a:rPr>
              <a:t>Reached </a:t>
            </a:r>
            <a:r>
              <a:rPr b="1" lang="en" sz="1600">
                <a:solidFill>
                  <a:schemeClr val="dk2"/>
                </a:solidFill>
                <a:latin typeface="DM Sans"/>
                <a:ea typeface="DM Sans"/>
                <a:cs typeface="DM Sans"/>
                <a:sym typeface="DM Sans"/>
              </a:rPr>
              <a:t>more females</a:t>
            </a:r>
            <a:r>
              <a:rPr lang="en" sz="1600">
                <a:solidFill>
                  <a:schemeClr val="dk2"/>
                </a:solidFill>
                <a:latin typeface="DM Sans"/>
                <a:ea typeface="DM Sans"/>
                <a:cs typeface="DM Sans"/>
                <a:sym typeface="DM Sans"/>
              </a:rPr>
              <a:t> than males (58.3% female)</a:t>
            </a:r>
            <a:endParaRPr sz="1600">
              <a:solidFill>
                <a:schemeClr val="dk2"/>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4"/>
          <p:cNvSpPr/>
          <p:nvPr/>
        </p:nvSpPr>
        <p:spPr>
          <a:xfrm>
            <a:off x="675150" y="3784975"/>
            <a:ext cx="7780500" cy="1107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24" name="Google Shape;42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4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Results</a:t>
            </a:r>
            <a:endParaRPr/>
          </a:p>
        </p:txBody>
      </p:sp>
      <p:sp>
        <p:nvSpPr>
          <p:cNvPr id="426" name="Google Shape;426;p44"/>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27" name="Google Shape;427;p44"/>
          <p:cNvSpPr txBox="1"/>
          <p:nvPr/>
        </p:nvSpPr>
        <p:spPr>
          <a:xfrm>
            <a:off x="196962" y="82996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Confounding Assessment </a:t>
            </a:r>
            <a:r>
              <a:rPr b="1" lang="en" sz="3050">
                <a:solidFill>
                  <a:schemeClr val="dk1"/>
                </a:solidFill>
                <a:latin typeface="Merriweather"/>
                <a:ea typeface="Merriweather"/>
                <a:cs typeface="Merriweather"/>
                <a:sym typeface="Merriweather"/>
              </a:rPr>
              <a:t>Gender</a:t>
            </a:r>
            <a:endParaRPr b="1" sz="3050">
              <a:solidFill>
                <a:schemeClr val="dk1"/>
              </a:solidFill>
              <a:latin typeface="Merriweather"/>
              <a:ea typeface="Merriweather"/>
              <a:cs typeface="Merriweather"/>
              <a:sym typeface="Merriweather"/>
            </a:endParaRPr>
          </a:p>
        </p:txBody>
      </p:sp>
      <p:graphicFrame>
        <p:nvGraphicFramePr>
          <p:cNvPr id="428" name="Google Shape;428;p44"/>
          <p:cNvGraphicFramePr/>
          <p:nvPr/>
        </p:nvGraphicFramePr>
        <p:xfrm>
          <a:off x="197375" y="1652550"/>
          <a:ext cx="3000000" cy="3000000"/>
        </p:xfrm>
        <a:graphic>
          <a:graphicData uri="http://schemas.openxmlformats.org/drawingml/2006/table">
            <a:tbl>
              <a:tblPr>
                <a:noFill/>
                <a:tableStyleId>{F9E21B19-FEE4-4379-8420-1124A6005D40}</a:tableStyleId>
              </a:tblPr>
              <a:tblGrid>
                <a:gridCol w="3409050"/>
                <a:gridCol w="2283375"/>
                <a:gridCol w="2955400"/>
              </a:tblGrid>
              <a:tr h="436450">
                <a:tc>
                  <a:txBody>
                    <a:bodyPr/>
                    <a:lstStyle/>
                    <a:p>
                      <a:pPr indent="0" lvl="0" marL="0" rtl="0" algn="l">
                        <a:spcBef>
                          <a:spcPts val="0"/>
                        </a:spcBef>
                        <a:spcAft>
                          <a:spcPts val="0"/>
                        </a:spcAft>
                        <a:buNone/>
                      </a:pPr>
                      <a:r>
                        <a:rPr b="1" lang="en" sz="1700">
                          <a:solidFill>
                            <a:schemeClr val="accent3"/>
                          </a:solidFill>
                          <a:latin typeface="DM Sans"/>
                          <a:ea typeface="DM Sans"/>
                          <a:cs typeface="DM Sans"/>
                          <a:sym typeface="DM Sans"/>
                        </a:rPr>
                        <a:t>Estimate</a:t>
                      </a:r>
                      <a:endParaRPr b="1" sz="1700">
                        <a:solidFill>
                          <a:schemeClr val="accent3"/>
                        </a:solidFill>
                        <a:latin typeface="DM Sans"/>
                        <a:ea typeface="DM Sans"/>
                        <a:cs typeface="DM Sans"/>
                        <a:sym typeface="DM Sans"/>
                      </a:endParaRPr>
                    </a:p>
                  </a:txBody>
                  <a:tcPr marT="91425" marB="91425" marR="91425" marL="91425">
                    <a:solidFill>
                      <a:schemeClr val="dk1"/>
                    </a:solidFill>
                  </a:tcPr>
                </a:tc>
                <a:tc>
                  <a:txBody>
                    <a:bodyPr/>
                    <a:lstStyle/>
                    <a:p>
                      <a:pPr indent="0" lvl="0" marL="0" rtl="0" algn="l">
                        <a:spcBef>
                          <a:spcPts val="0"/>
                        </a:spcBef>
                        <a:spcAft>
                          <a:spcPts val="0"/>
                        </a:spcAft>
                        <a:buNone/>
                      </a:pPr>
                      <a:r>
                        <a:rPr b="1" lang="en" sz="1700">
                          <a:solidFill>
                            <a:schemeClr val="accent3"/>
                          </a:solidFill>
                          <a:latin typeface="DM Sans"/>
                          <a:ea typeface="DM Sans"/>
                          <a:cs typeface="DM Sans"/>
                          <a:sym typeface="DM Sans"/>
                        </a:rPr>
                        <a:t>Odds Ratio</a:t>
                      </a:r>
                      <a:endParaRPr b="1" sz="1700">
                        <a:solidFill>
                          <a:schemeClr val="accent3"/>
                        </a:solidFill>
                        <a:latin typeface="DM Sans"/>
                        <a:ea typeface="DM Sans"/>
                        <a:cs typeface="DM Sans"/>
                        <a:sym typeface="DM Sans"/>
                      </a:endParaRPr>
                    </a:p>
                  </a:txBody>
                  <a:tcPr marT="91425" marB="91425" marR="91425" marL="91425">
                    <a:solidFill>
                      <a:schemeClr val="dk1"/>
                    </a:solidFill>
                  </a:tcPr>
                </a:tc>
                <a:tc>
                  <a:txBody>
                    <a:bodyPr/>
                    <a:lstStyle/>
                    <a:p>
                      <a:pPr indent="0" lvl="0" marL="0" rtl="0" algn="l">
                        <a:spcBef>
                          <a:spcPts val="0"/>
                        </a:spcBef>
                        <a:spcAft>
                          <a:spcPts val="0"/>
                        </a:spcAft>
                        <a:buNone/>
                      </a:pPr>
                      <a:r>
                        <a:rPr b="1" lang="en" sz="1700">
                          <a:solidFill>
                            <a:schemeClr val="accent3"/>
                          </a:solidFill>
                          <a:latin typeface="DM Sans"/>
                          <a:ea typeface="DM Sans"/>
                          <a:cs typeface="DM Sans"/>
                          <a:sym typeface="DM Sans"/>
                        </a:rPr>
                        <a:t>95% CI</a:t>
                      </a:r>
                      <a:endParaRPr b="1" sz="1700">
                        <a:solidFill>
                          <a:schemeClr val="accent3"/>
                        </a:solidFill>
                        <a:latin typeface="DM Sans"/>
                        <a:ea typeface="DM Sans"/>
                        <a:cs typeface="DM Sans"/>
                        <a:sym typeface="DM Sans"/>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en">
                          <a:latin typeface="DM Sans"/>
                          <a:ea typeface="DM Sans"/>
                          <a:cs typeface="DM Sans"/>
                          <a:sym typeface="DM Sans"/>
                        </a:rPr>
                        <a:t>Crude (n = 84)</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2.33</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(0.57, 10.21)</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Stratified (Male Only, n = 27)</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1.93</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(0.13, 112.31)</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Stratified (Female Only, n = 49)</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2.11</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(0.26, 14.56)</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Regression Adjusted</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2.42</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(0.67, 8.77)</a:t>
                      </a:r>
                      <a:endParaRPr>
                        <a:latin typeface="DM Sans"/>
                        <a:ea typeface="DM Sans"/>
                        <a:cs typeface="DM Sans"/>
                        <a:sym typeface="DM Sans"/>
                      </a:endParaRPr>
                    </a:p>
                  </a:txBody>
                  <a:tcPr marT="91425" marB="91425" marR="91425" marL="91425"/>
                </a:tc>
              </a:tr>
            </a:tbl>
          </a:graphicData>
        </a:graphic>
      </p:graphicFrame>
      <p:sp>
        <p:nvSpPr>
          <p:cNvPr id="429" name="Google Shape;429;p44"/>
          <p:cNvSpPr txBox="1"/>
          <p:nvPr/>
        </p:nvSpPr>
        <p:spPr>
          <a:xfrm>
            <a:off x="688350" y="3761750"/>
            <a:ext cx="77805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When stratified by gender, the Odds Ratio point estimate of both groups were lower than the crude, which suggests the presence of confounding. However, all 95% confidence intervals contain the null value of 1, making this statistically </a:t>
            </a:r>
            <a:r>
              <a:rPr lang="en" sz="1300">
                <a:solidFill>
                  <a:schemeClr val="dk2"/>
                </a:solidFill>
                <a:latin typeface="DM Sans"/>
                <a:ea typeface="DM Sans"/>
                <a:cs typeface="DM Sans"/>
                <a:sym typeface="DM Sans"/>
              </a:rPr>
              <a:t>insignificant</a:t>
            </a:r>
            <a:r>
              <a:rPr lang="en" sz="1300">
                <a:solidFill>
                  <a:schemeClr val="dk2"/>
                </a:solidFill>
                <a:latin typeface="DM Sans"/>
                <a:ea typeface="DM Sans"/>
                <a:cs typeface="DM Sans"/>
                <a:sym typeface="DM Sans"/>
              </a:rPr>
              <a:t>. In addition, the roughly 3% change between the crude and regression adjusted values was below the 10% threshold, </a:t>
            </a:r>
            <a:r>
              <a:rPr lang="en" sz="1300">
                <a:solidFill>
                  <a:schemeClr val="dk2"/>
                </a:solidFill>
                <a:latin typeface="DM Sans"/>
                <a:ea typeface="DM Sans"/>
                <a:cs typeface="DM Sans"/>
                <a:sym typeface="DM Sans"/>
              </a:rPr>
              <a:t>meaning</a:t>
            </a:r>
            <a:r>
              <a:rPr lang="en" sz="1300">
                <a:solidFill>
                  <a:schemeClr val="dk2"/>
                </a:solidFill>
                <a:latin typeface="DM Sans"/>
                <a:ea typeface="DM Sans"/>
                <a:cs typeface="DM Sans"/>
                <a:sym typeface="DM Sans"/>
              </a:rPr>
              <a:t> there is little evidence of confounding. </a:t>
            </a:r>
            <a:endParaRPr sz="1300">
              <a:solidFill>
                <a:schemeClr val="dk2"/>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5"/>
          <p:cNvSpPr/>
          <p:nvPr/>
        </p:nvSpPr>
        <p:spPr>
          <a:xfrm>
            <a:off x="389700" y="4068875"/>
            <a:ext cx="8039100" cy="970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35" name="Google Shape;43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45"/>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Results</a:t>
            </a:r>
            <a:endParaRPr/>
          </a:p>
        </p:txBody>
      </p:sp>
      <p:sp>
        <p:nvSpPr>
          <p:cNvPr id="437" name="Google Shape;437;p45"/>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38" name="Google Shape;438;p45"/>
          <p:cNvSpPr txBox="1"/>
          <p:nvPr/>
        </p:nvSpPr>
        <p:spPr>
          <a:xfrm>
            <a:off x="196962" y="81436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Confounding Assessment </a:t>
            </a:r>
            <a:r>
              <a:rPr b="1" lang="en" sz="3050">
                <a:solidFill>
                  <a:schemeClr val="dk1"/>
                </a:solidFill>
                <a:latin typeface="Merriweather"/>
                <a:ea typeface="Merriweather"/>
                <a:cs typeface="Merriweather"/>
                <a:sym typeface="Merriweather"/>
              </a:rPr>
              <a:t>Financial Insecurity</a:t>
            </a:r>
            <a:endParaRPr b="1" sz="3050">
              <a:solidFill>
                <a:schemeClr val="dk1"/>
              </a:solidFill>
              <a:latin typeface="Merriweather"/>
              <a:ea typeface="Merriweather"/>
              <a:cs typeface="Merriweather"/>
              <a:sym typeface="Merriweather"/>
            </a:endParaRPr>
          </a:p>
        </p:txBody>
      </p:sp>
      <p:graphicFrame>
        <p:nvGraphicFramePr>
          <p:cNvPr id="439" name="Google Shape;439;p45"/>
          <p:cNvGraphicFramePr/>
          <p:nvPr/>
        </p:nvGraphicFramePr>
        <p:xfrm>
          <a:off x="196950" y="1577200"/>
          <a:ext cx="3000000" cy="3000000"/>
        </p:xfrm>
        <a:graphic>
          <a:graphicData uri="http://schemas.openxmlformats.org/drawingml/2006/table">
            <a:tbl>
              <a:tblPr>
                <a:noFill/>
                <a:tableStyleId>{F9E21B19-FEE4-4379-8420-1124A6005D40}</a:tableStyleId>
              </a:tblPr>
              <a:tblGrid>
                <a:gridCol w="4085000"/>
                <a:gridCol w="1913275"/>
                <a:gridCol w="2632325"/>
              </a:tblGrid>
              <a:tr h="381000">
                <a:tc>
                  <a:txBody>
                    <a:bodyPr/>
                    <a:lstStyle/>
                    <a:p>
                      <a:pPr indent="0" lvl="0" marL="0" rtl="0" algn="l">
                        <a:spcBef>
                          <a:spcPts val="0"/>
                        </a:spcBef>
                        <a:spcAft>
                          <a:spcPts val="0"/>
                        </a:spcAft>
                        <a:buNone/>
                      </a:pPr>
                      <a:r>
                        <a:rPr b="1" lang="en" sz="1700">
                          <a:solidFill>
                            <a:schemeClr val="accent3"/>
                          </a:solidFill>
                        </a:rPr>
                        <a:t>Estimate</a:t>
                      </a:r>
                      <a:endParaRPr b="1" sz="1700">
                        <a:solidFill>
                          <a:schemeClr val="accent3"/>
                        </a:solidFill>
                      </a:endParaRPr>
                    </a:p>
                  </a:txBody>
                  <a:tcPr marT="91425" marB="91425" marR="91425" marL="91425">
                    <a:solidFill>
                      <a:schemeClr val="dk1"/>
                    </a:solidFill>
                  </a:tcPr>
                </a:tc>
                <a:tc>
                  <a:txBody>
                    <a:bodyPr/>
                    <a:lstStyle/>
                    <a:p>
                      <a:pPr indent="0" lvl="0" marL="0" rtl="0" algn="l">
                        <a:spcBef>
                          <a:spcPts val="0"/>
                        </a:spcBef>
                        <a:spcAft>
                          <a:spcPts val="0"/>
                        </a:spcAft>
                        <a:buNone/>
                      </a:pPr>
                      <a:r>
                        <a:rPr b="1" lang="en" sz="1700">
                          <a:solidFill>
                            <a:schemeClr val="accent3"/>
                          </a:solidFill>
                        </a:rPr>
                        <a:t>Odds Ratio</a:t>
                      </a:r>
                      <a:endParaRPr b="1" sz="1700">
                        <a:solidFill>
                          <a:schemeClr val="accent3"/>
                        </a:solidFill>
                      </a:endParaRPr>
                    </a:p>
                  </a:txBody>
                  <a:tcPr marT="91425" marB="91425" marR="91425" marL="91425">
                    <a:solidFill>
                      <a:schemeClr val="dk1"/>
                    </a:solidFill>
                  </a:tcPr>
                </a:tc>
                <a:tc>
                  <a:txBody>
                    <a:bodyPr/>
                    <a:lstStyle/>
                    <a:p>
                      <a:pPr indent="0" lvl="0" marL="0" rtl="0" algn="l">
                        <a:spcBef>
                          <a:spcPts val="0"/>
                        </a:spcBef>
                        <a:spcAft>
                          <a:spcPts val="0"/>
                        </a:spcAft>
                        <a:buNone/>
                      </a:pPr>
                      <a:r>
                        <a:rPr b="1" lang="en" sz="1700">
                          <a:solidFill>
                            <a:schemeClr val="accent3"/>
                          </a:solidFill>
                        </a:rPr>
                        <a:t>95% CI</a:t>
                      </a:r>
                      <a:endParaRPr b="1" sz="1700">
                        <a:solidFill>
                          <a:schemeClr val="accent3"/>
                        </a:solidFill>
                      </a:endParaRPr>
                    </a:p>
                  </a:txBody>
                  <a:tcPr marT="91425" marB="91425" marR="91425" marL="91425">
                    <a:solidFill>
                      <a:schemeClr val="dk1"/>
                    </a:solidFill>
                  </a:tcPr>
                </a:tc>
              </a:tr>
              <a:tr h="381000">
                <a:tc>
                  <a:txBody>
                    <a:bodyPr/>
                    <a:lstStyle/>
                    <a:p>
                      <a:pPr indent="0" lvl="0" marL="0" rtl="0" algn="l">
                        <a:spcBef>
                          <a:spcPts val="0"/>
                        </a:spcBef>
                        <a:spcAft>
                          <a:spcPts val="0"/>
                        </a:spcAft>
                        <a:buNone/>
                      </a:pPr>
                      <a:r>
                        <a:rPr lang="en">
                          <a:latin typeface="DM Sans"/>
                          <a:ea typeface="DM Sans"/>
                          <a:cs typeface="DM Sans"/>
                          <a:sym typeface="DM Sans"/>
                        </a:rPr>
                        <a:t>Crude (n = 84)</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2.33</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(0.57, 10.21)</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Stratified (Experiences Financial Insecurity,  n = 11)</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3.50</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(0.03, 313.10)</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Stratified (Does not Experience Financial Insecurity, n = 73)</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2.28</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(0.48</a:t>
                      </a:r>
                      <a:r>
                        <a:rPr lang="en">
                          <a:latin typeface="DM Sans"/>
                          <a:ea typeface="DM Sans"/>
                          <a:cs typeface="DM Sans"/>
                          <a:sym typeface="DM Sans"/>
                        </a:rPr>
                        <a:t>, 12.01)</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Regression Adjusted</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2.44</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(0.69, 8.58)</a:t>
                      </a:r>
                      <a:endParaRPr>
                        <a:latin typeface="DM Sans"/>
                        <a:ea typeface="DM Sans"/>
                        <a:cs typeface="DM Sans"/>
                        <a:sym typeface="DM Sans"/>
                      </a:endParaRPr>
                    </a:p>
                  </a:txBody>
                  <a:tcPr marT="91425" marB="91425" marR="91425" marL="91425"/>
                </a:tc>
              </a:tr>
            </a:tbl>
          </a:graphicData>
        </a:graphic>
      </p:graphicFrame>
      <p:sp>
        <p:nvSpPr>
          <p:cNvPr id="440" name="Google Shape;440;p45"/>
          <p:cNvSpPr txBox="1"/>
          <p:nvPr/>
        </p:nvSpPr>
        <p:spPr>
          <a:xfrm>
            <a:off x="389700" y="4053850"/>
            <a:ext cx="81717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When stratifying by financial insecurity, the stratified groups Odds Ratio point estimates were on either side of the crude </a:t>
            </a:r>
            <a:r>
              <a:rPr lang="en" sz="1300">
                <a:solidFill>
                  <a:schemeClr val="dk2"/>
                </a:solidFill>
                <a:latin typeface="DM Sans"/>
                <a:ea typeface="DM Sans"/>
                <a:cs typeface="DM Sans"/>
                <a:sym typeface="DM Sans"/>
              </a:rPr>
              <a:t>value, but nearby. This suggests potential EMM, but is not strong evidence. </a:t>
            </a:r>
            <a:r>
              <a:rPr lang="en" sz="1300">
                <a:solidFill>
                  <a:schemeClr val="dk2"/>
                </a:solidFill>
                <a:latin typeface="DM Sans"/>
                <a:ea typeface="DM Sans"/>
                <a:cs typeface="DM Sans"/>
                <a:sym typeface="DM Sans"/>
              </a:rPr>
              <a:t>All 95% confidence intervals contain the null value of 1, indicating statistical insignificance. The percent change for the regression adjusted OR was less than 10% and not suggestive of a confounding variable. </a:t>
            </a:r>
            <a:endParaRPr sz="1300">
              <a:solidFill>
                <a:schemeClr val="dk2"/>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6"/>
          <p:cNvSpPr/>
          <p:nvPr/>
        </p:nvSpPr>
        <p:spPr>
          <a:xfrm>
            <a:off x="430571" y="3868354"/>
            <a:ext cx="8283000" cy="1102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46" name="Google Shape;446;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4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Results</a:t>
            </a:r>
            <a:endParaRPr/>
          </a:p>
        </p:txBody>
      </p:sp>
      <p:sp>
        <p:nvSpPr>
          <p:cNvPr id="448" name="Google Shape;448;p46"/>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49" name="Google Shape;449;p46"/>
          <p:cNvSpPr txBox="1"/>
          <p:nvPr/>
        </p:nvSpPr>
        <p:spPr>
          <a:xfrm>
            <a:off x="197387" y="66766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Confounding Assessment </a:t>
            </a:r>
            <a:r>
              <a:rPr b="1" lang="en" sz="3050">
                <a:solidFill>
                  <a:schemeClr val="dk1"/>
                </a:solidFill>
                <a:latin typeface="Merriweather"/>
                <a:ea typeface="Merriweather"/>
                <a:cs typeface="Merriweather"/>
                <a:sym typeface="Merriweather"/>
              </a:rPr>
              <a:t>Feelings About Vegetables (EMM)</a:t>
            </a:r>
            <a:endParaRPr b="1" sz="3050">
              <a:solidFill>
                <a:schemeClr val="dk1"/>
              </a:solidFill>
              <a:latin typeface="Merriweather"/>
              <a:ea typeface="Merriweather"/>
              <a:cs typeface="Merriweather"/>
              <a:sym typeface="Merriweather"/>
            </a:endParaRPr>
          </a:p>
        </p:txBody>
      </p:sp>
      <p:graphicFrame>
        <p:nvGraphicFramePr>
          <p:cNvPr id="450" name="Google Shape;450;p46"/>
          <p:cNvGraphicFramePr/>
          <p:nvPr/>
        </p:nvGraphicFramePr>
        <p:xfrm>
          <a:off x="197388" y="1423325"/>
          <a:ext cx="3000000" cy="3000000"/>
        </p:xfrm>
        <a:graphic>
          <a:graphicData uri="http://schemas.openxmlformats.org/drawingml/2006/table">
            <a:tbl>
              <a:tblPr>
                <a:noFill/>
                <a:tableStyleId>{F9E21B19-FEE4-4379-8420-1124A6005D40}</a:tableStyleId>
              </a:tblPr>
              <a:tblGrid>
                <a:gridCol w="5762225"/>
                <a:gridCol w="1422125"/>
                <a:gridCol w="1564850"/>
              </a:tblGrid>
              <a:tr h="579250">
                <a:tc>
                  <a:txBody>
                    <a:bodyPr/>
                    <a:lstStyle/>
                    <a:p>
                      <a:pPr indent="0" lvl="0" marL="0" rtl="0" algn="l">
                        <a:spcBef>
                          <a:spcPts val="0"/>
                        </a:spcBef>
                        <a:spcAft>
                          <a:spcPts val="0"/>
                        </a:spcAft>
                        <a:buNone/>
                      </a:pPr>
                      <a:r>
                        <a:rPr b="1" lang="en" sz="1700">
                          <a:solidFill>
                            <a:schemeClr val="accent3"/>
                          </a:solidFill>
                          <a:latin typeface="DM Sans"/>
                          <a:ea typeface="DM Sans"/>
                          <a:cs typeface="DM Sans"/>
                          <a:sym typeface="DM Sans"/>
                        </a:rPr>
                        <a:t>Estimate</a:t>
                      </a:r>
                      <a:endParaRPr b="1" sz="1700">
                        <a:solidFill>
                          <a:schemeClr val="accent3"/>
                        </a:solidFill>
                        <a:latin typeface="DM Sans"/>
                        <a:ea typeface="DM Sans"/>
                        <a:cs typeface="DM Sans"/>
                        <a:sym typeface="DM Sans"/>
                      </a:endParaRPr>
                    </a:p>
                  </a:txBody>
                  <a:tcPr marT="91425" marB="91425" marR="91425" marL="91425">
                    <a:solidFill>
                      <a:schemeClr val="dk1"/>
                    </a:solidFill>
                  </a:tcPr>
                </a:tc>
                <a:tc>
                  <a:txBody>
                    <a:bodyPr/>
                    <a:lstStyle/>
                    <a:p>
                      <a:pPr indent="0" lvl="0" marL="0" rtl="0" algn="l">
                        <a:spcBef>
                          <a:spcPts val="0"/>
                        </a:spcBef>
                        <a:spcAft>
                          <a:spcPts val="0"/>
                        </a:spcAft>
                        <a:buNone/>
                      </a:pPr>
                      <a:r>
                        <a:rPr b="1" lang="en" sz="1700">
                          <a:solidFill>
                            <a:schemeClr val="accent3"/>
                          </a:solidFill>
                          <a:latin typeface="DM Sans"/>
                          <a:ea typeface="DM Sans"/>
                          <a:cs typeface="DM Sans"/>
                          <a:sym typeface="DM Sans"/>
                        </a:rPr>
                        <a:t>Odds Ratio</a:t>
                      </a:r>
                      <a:endParaRPr b="1" sz="1700">
                        <a:solidFill>
                          <a:schemeClr val="accent3"/>
                        </a:solidFill>
                        <a:latin typeface="DM Sans"/>
                        <a:ea typeface="DM Sans"/>
                        <a:cs typeface="DM Sans"/>
                        <a:sym typeface="DM Sans"/>
                      </a:endParaRPr>
                    </a:p>
                  </a:txBody>
                  <a:tcPr marT="91425" marB="91425" marR="91425" marL="91425">
                    <a:lnB cap="flat" cmpd="sng" w="9525">
                      <a:solidFill>
                        <a:srgbClr val="9E9E9E"/>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b="1" lang="en" sz="1700">
                          <a:solidFill>
                            <a:schemeClr val="accent3"/>
                          </a:solidFill>
                          <a:latin typeface="DM Sans"/>
                          <a:ea typeface="DM Sans"/>
                          <a:cs typeface="DM Sans"/>
                          <a:sym typeface="DM Sans"/>
                        </a:rPr>
                        <a:t>95% CI</a:t>
                      </a:r>
                      <a:endParaRPr b="1" sz="1700">
                        <a:solidFill>
                          <a:schemeClr val="accent3"/>
                        </a:solidFill>
                        <a:latin typeface="DM Sans"/>
                        <a:ea typeface="DM Sans"/>
                        <a:cs typeface="DM Sans"/>
                        <a:sym typeface="DM Sans"/>
                      </a:endParaRPr>
                    </a:p>
                  </a:txBody>
                  <a:tcPr marT="91425" marB="91425" marR="91425" marL="91425">
                    <a:lnB cap="flat" cmpd="sng" w="9525">
                      <a:solidFill>
                        <a:srgbClr val="9E9E9E"/>
                      </a:solidFill>
                      <a:prstDash val="solid"/>
                      <a:round/>
                      <a:headEnd len="sm" w="sm" type="none"/>
                      <a:tailEnd len="sm" w="sm" type="none"/>
                    </a:lnB>
                    <a:solidFill>
                      <a:schemeClr val="dk1"/>
                    </a:solidFill>
                  </a:tcPr>
                </a:tc>
              </a:tr>
              <a:tr h="381000">
                <a:tc>
                  <a:txBody>
                    <a:bodyPr/>
                    <a:lstStyle/>
                    <a:p>
                      <a:pPr indent="0" lvl="0" marL="0" rtl="0" algn="l">
                        <a:spcBef>
                          <a:spcPts val="0"/>
                        </a:spcBef>
                        <a:spcAft>
                          <a:spcPts val="0"/>
                        </a:spcAft>
                        <a:buNone/>
                      </a:pPr>
                      <a:r>
                        <a:rPr lang="en">
                          <a:latin typeface="DM Sans"/>
                          <a:ea typeface="DM Sans"/>
                          <a:cs typeface="DM Sans"/>
                          <a:sym typeface="DM Sans"/>
                        </a:rPr>
                        <a:t>Crude (n = 84)</a:t>
                      </a:r>
                      <a:endParaRPr>
                        <a:latin typeface="DM Sans"/>
                        <a:ea typeface="DM Sans"/>
                        <a:cs typeface="DM Sans"/>
                        <a:sym typeface="DM Sans"/>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latin typeface="DM Sans"/>
                          <a:ea typeface="DM Sans"/>
                          <a:cs typeface="DM Sans"/>
                          <a:sym typeface="DM Sans"/>
                        </a:rPr>
                        <a:t>2.33</a:t>
                      </a:r>
                      <a:endParaRPr>
                        <a:latin typeface="DM Sans"/>
                        <a:ea typeface="DM Sans"/>
                        <a:cs typeface="DM Sans"/>
                        <a:sym typeface="DM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latin typeface="DM Sans"/>
                          <a:ea typeface="DM Sans"/>
                          <a:cs typeface="DM Sans"/>
                          <a:sym typeface="DM Sans"/>
                        </a:rPr>
                        <a:t>(0.57, 10.21)</a:t>
                      </a:r>
                      <a:endParaRPr>
                        <a:latin typeface="DM Sans"/>
                        <a:ea typeface="DM Sans"/>
                        <a:cs typeface="DM Sans"/>
                        <a:sym typeface="DM Sa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68975">
                <a:tc>
                  <a:txBody>
                    <a:bodyPr/>
                    <a:lstStyle/>
                    <a:p>
                      <a:pPr indent="0" lvl="0" marL="0" rtl="0" algn="l">
                        <a:spcBef>
                          <a:spcPts val="0"/>
                        </a:spcBef>
                        <a:spcAft>
                          <a:spcPts val="0"/>
                        </a:spcAft>
                        <a:buNone/>
                      </a:pPr>
                      <a:r>
                        <a:rPr lang="en">
                          <a:latin typeface="DM Sans"/>
                          <a:ea typeface="DM Sans"/>
                          <a:cs typeface="DM Sans"/>
                          <a:sym typeface="DM Sans"/>
                        </a:rPr>
                        <a:t>Stratified (Content with Vegetable Consumption Levels, n = 36)</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2.89</a:t>
                      </a:r>
                      <a:endParaRPr>
                        <a:latin typeface="DM Sans"/>
                        <a:ea typeface="DM Sans"/>
                        <a:cs typeface="DM Sans"/>
                        <a:sym typeface="DM Sans"/>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latin typeface="DM Sans"/>
                          <a:ea typeface="DM Sans"/>
                          <a:cs typeface="DM Sans"/>
                          <a:sym typeface="DM Sans"/>
                        </a:rPr>
                        <a:t>(0.24, 153.01)</a:t>
                      </a:r>
                      <a:endParaRPr>
                        <a:latin typeface="DM Sans"/>
                        <a:ea typeface="DM Sans"/>
                        <a:cs typeface="DM Sans"/>
                        <a:sym typeface="DM Sans"/>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l">
                        <a:spcBef>
                          <a:spcPts val="0"/>
                        </a:spcBef>
                        <a:spcAft>
                          <a:spcPts val="0"/>
                        </a:spcAft>
                        <a:buNone/>
                      </a:pPr>
                      <a:r>
                        <a:rPr lang="en">
                          <a:latin typeface="DM Sans"/>
                          <a:ea typeface="DM Sans"/>
                          <a:cs typeface="DM Sans"/>
                          <a:sym typeface="DM Sans"/>
                        </a:rPr>
                        <a:t>Stratified (Wish </a:t>
                      </a:r>
                      <a:r>
                        <a:rPr lang="en">
                          <a:solidFill>
                            <a:schemeClr val="hlink"/>
                          </a:solidFill>
                          <a:latin typeface="DM Sans"/>
                          <a:ea typeface="DM Sans"/>
                          <a:cs typeface="DM Sans"/>
                          <a:sym typeface="DM Sans"/>
                        </a:rPr>
                        <a:t>Vegetable Consumption Levels were Higher</a:t>
                      </a:r>
                      <a:r>
                        <a:rPr lang="en">
                          <a:latin typeface="DM Sans"/>
                          <a:ea typeface="DM Sans"/>
                          <a:cs typeface="DM Sans"/>
                          <a:sym typeface="DM Sans"/>
                        </a:rPr>
                        <a:t>, n = 48)</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2.67</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(0.32, 18.76)</a:t>
                      </a:r>
                      <a:endParaRPr>
                        <a:latin typeface="DM Sans"/>
                        <a:ea typeface="DM Sans"/>
                        <a:cs typeface="DM Sans"/>
                        <a:sym typeface="DM Sans"/>
                      </a:endParaRPr>
                    </a:p>
                  </a:txBody>
                  <a:tcPr marT="91425" marB="91425" marR="91425" marL="91425"/>
                </a:tc>
              </a:tr>
              <a:tr h="381000">
                <a:tc>
                  <a:txBody>
                    <a:bodyPr/>
                    <a:lstStyle/>
                    <a:p>
                      <a:pPr indent="0" lvl="0" marL="0" rtl="0" algn="l">
                        <a:spcBef>
                          <a:spcPts val="0"/>
                        </a:spcBef>
                        <a:spcAft>
                          <a:spcPts val="0"/>
                        </a:spcAft>
                        <a:buNone/>
                      </a:pPr>
                      <a:r>
                        <a:rPr lang="en">
                          <a:latin typeface="DM Sans"/>
                          <a:ea typeface="DM Sans"/>
                          <a:cs typeface="DM Sans"/>
                          <a:sym typeface="DM Sans"/>
                        </a:rPr>
                        <a:t>Regression adjusted</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2.74</a:t>
                      </a:r>
                      <a:endParaRPr>
                        <a:latin typeface="DM Sans"/>
                        <a:ea typeface="DM Sans"/>
                        <a:cs typeface="DM Sans"/>
                        <a:sym typeface="DM Sans"/>
                      </a:endParaRPr>
                    </a:p>
                  </a:txBody>
                  <a:tcPr marT="91425" marB="91425" marR="91425" marL="91425"/>
                </a:tc>
                <a:tc>
                  <a:txBody>
                    <a:bodyPr/>
                    <a:lstStyle/>
                    <a:p>
                      <a:pPr indent="0" lvl="0" marL="0" rtl="0" algn="l">
                        <a:spcBef>
                          <a:spcPts val="0"/>
                        </a:spcBef>
                        <a:spcAft>
                          <a:spcPts val="0"/>
                        </a:spcAft>
                        <a:buNone/>
                      </a:pPr>
                      <a:r>
                        <a:rPr lang="en">
                          <a:latin typeface="DM Sans"/>
                          <a:ea typeface="DM Sans"/>
                          <a:cs typeface="DM Sans"/>
                          <a:sym typeface="DM Sans"/>
                        </a:rPr>
                        <a:t>(0.71, 10.53)</a:t>
                      </a:r>
                      <a:endParaRPr>
                        <a:latin typeface="DM Sans"/>
                        <a:ea typeface="DM Sans"/>
                        <a:cs typeface="DM Sans"/>
                        <a:sym typeface="DM Sans"/>
                      </a:endParaRPr>
                    </a:p>
                  </a:txBody>
                  <a:tcPr marT="91425" marB="91425" marR="91425" marL="91425"/>
                </a:tc>
              </a:tr>
            </a:tbl>
          </a:graphicData>
        </a:graphic>
      </p:graphicFrame>
      <p:sp>
        <p:nvSpPr>
          <p:cNvPr id="451" name="Google Shape;451;p46"/>
          <p:cNvSpPr txBox="1"/>
          <p:nvPr/>
        </p:nvSpPr>
        <p:spPr>
          <a:xfrm>
            <a:off x="430421" y="3818229"/>
            <a:ext cx="82830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When stratifying by vegetable feelings, both groups had higher Odds Ratio point estimates than the crude Odds Ratio and were very close in value, which suggests potential confounding for this variable. Again, all 95% confidence intervals contained the null value of 1, </a:t>
            </a:r>
            <a:r>
              <a:rPr lang="en" sz="1300">
                <a:solidFill>
                  <a:schemeClr val="dk2"/>
                </a:solidFill>
                <a:latin typeface="DM Sans"/>
                <a:ea typeface="DM Sans"/>
                <a:cs typeface="DM Sans"/>
                <a:sym typeface="DM Sans"/>
              </a:rPr>
              <a:t>making</a:t>
            </a:r>
            <a:r>
              <a:rPr lang="en" sz="1300">
                <a:solidFill>
                  <a:schemeClr val="dk2"/>
                </a:solidFill>
                <a:latin typeface="DM Sans"/>
                <a:ea typeface="DM Sans"/>
                <a:cs typeface="DM Sans"/>
                <a:sym typeface="DM Sans"/>
              </a:rPr>
              <a:t> these results statistically insignificant. Additionally, the percent change in the regression adjusted OR was greater than 10% giving more suggestion that feelings about vegetables may be a confounder.</a:t>
            </a:r>
            <a:endParaRPr sz="1300">
              <a:solidFill>
                <a:schemeClr val="dk2"/>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7" name="Google Shape;457;p47"/>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Agenda</a:t>
            </a:r>
            <a:endParaRPr/>
          </a:p>
        </p:txBody>
      </p:sp>
      <p:sp>
        <p:nvSpPr>
          <p:cNvPr id="458" name="Google Shape;458;p47"/>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59" name="Google Shape;459;p47"/>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a:t>
            </a:r>
            <a:endParaRPr b="1" sz="3650">
              <a:solidFill>
                <a:schemeClr val="accent2"/>
              </a:solidFill>
              <a:latin typeface="Merriweather"/>
              <a:ea typeface="Merriweather"/>
              <a:cs typeface="Merriweather"/>
              <a:sym typeface="Merriweather"/>
            </a:endParaRPr>
          </a:p>
        </p:txBody>
      </p:sp>
      <p:sp>
        <p:nvSpPr>
          <p:cNvPr id="460" name="Google Shape;460;p47"/>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Methods</a:t>
            </a:r>
            <a:endParaRPr b="1" sz="3650">
              <a:solidFill>
                <a:schemeClr val="accent2"/>
              </a:solidFill>
              <a:latin typeface="Merriweather"/>
              <a:ea typeface="Merriweather"/>
              <a:cs typeface="Merriweather"/>
              <a:sym typeface="Merriweather"/>
            </a:endParaRPr>
          </a:p>
        </p:txBody>
      </p:sp>
      <p:sp>
        <p:nvSpPr>
          <p:cNvPr id="461" name="Google Shape;461;p47"/>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Results</a:t>
            </a:r>
            <a:endParaRPr b="1" sz="3650">
              <a:solidFill>
                <a:schemeClr val="accent2"/>
              </a:solidFill>
              <a:latin typeface="Merriweather"/>
              <a:ea typeface="Merriweather"/>
              <a:cs typeface="Merriweather"/>
              <a:sym typeface="Merriweather"/>
            </a:endParaRPr>
          </a:p>
        </p:txBody>
      </p:sp>
      <p:sp>
        <p:nvSpPr>
          <p:cNvPr id="462" name="Google Shape;462;p47"/>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Discussion</a:t>
            </a:r>
            <a:endParaRPr b="1" sz="3650">
              <a:solidFill>
                <a:schemeClr val="dk1"/>
              </a:solidFill>
              <a:latin typeface="Merriweather"/>
              <a:ea typeface="Merriweather"/>
              <a:cs typeface="Merriweather"/>
              <a:sym typeface="Merriweather"/>
            </a:endParaRPr>
          </a:p>
        </p:txBody>
      </p:sp>
      <p:sp>
        <p:nvSpPr>
          <p:cNvPr id="463" name="Google Shape;463;p47"/>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464" name="Google Shape;464;p47"/>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465" name="Google Shape;465;p47"/>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466" name="Google Shape;466;p47"/>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4.</a:t>
            </a:r>
            <a:endParaRPr b="1" sz="1450">
              <a:solidFill>
                <a:schemeClr val="dk1"/>
              </a:solidFill>
              <a:latin typeface="Merriweather"/>
              <a:ea typeface="Merriweather"/>
              <a:cs typeface="Merriweather"/>
              <a:sym typeface="Merriweath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8"/>
          <p:cNvSpPr/>
          <p:nvPr/>
        </p:nvSpPr>
        <p:spPr>
          <a:xfrm>
            <a:off x="4642650" y="1209625"/>
            <a:ext cx="1933500" cy="356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2" name="Google Shape;472;p48"/>
          <p:cNvSpPr/>
          <p:nvPr/>
        </p:nvSpPr>
        <p:spPr>
          <a:xfrm>
            <a:off x="6846450" y="1209750"/>
            <a:ext cx="1933500" cy="354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3" name="Google Shape;47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48"/>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Discussion</a:t>
            </a:r>
            <a:endParaRPr/>
          </a:p>
        </p:txBody>
      </p:sp>
      <p:sp>
        <p:nvSpPr>
          <p:cNvPr id="475" name="Google Shape;475;p48"/>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76" name="Google Shape;476;p48"/>
          <p:cNvSpPr txBox="1"/>
          <p:nvPr/>
        </p:nvSpPr>
        <p:spPr>
          <a:xfrm>
            <a:off x="179400" y="549425"/>
            <a:ext cx="3756000" cy="51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Main Findings</a:t>
            </a:r>
            <a:endParaRPr b="1" sz="3650">
              <a:solidFill>
                <a:schemeClr val="dk1"/>
              </a:solidFill>
              <a:latin typeface="Merriweather"/>
              <a:ea typeface="Merriweather"/>
              <a:cs typeface="Merriweather"/>
              <a:sym typeface="Merriweather"/>
            </a:endParaRPr>
          </a:p>
        </p:txBody>
      </p:sp>
      <p:sp>
        <p:nvSpPr>
          <p:cNvPr id="477" name="Google Shape;477;p48"/>
          <p:cNvSpPr/>
          <p:nvPr/>
        </p:nvSpPr>
        <p:spPr>
          <a:xfrm>
            <a:off x="293125" y="1209625"/>
            <a:ext cx="1933500" cy="356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8" name="Google Shape;478;p48"/>
          <p:cNvSpPr/>
          <p:nvPr/>
        </p:nvSpPr>
        <p:spPr>
          <a:xfrm>
            <a:off x="2496925" y="1209750"/>
            <a:ext cx="1933500" cy="354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79" name="Google Shape;479;p48"/>
          <p:cNvSpPr txBox="1"/>
          <p:nvPr/>
        </p:nvSpPr>
        <p:spPr>
          <a:xfrm>
            <a:off x="340825" y="1737850"/>
            <a:ext cx="1812600" cy="292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chemeClr val="dk2"/>
                </a:solidFill>
                <a:latin typeface="DM Sans"/>
                <a:ea typeface="DM Sans"/>
                <a:cs typeface="DM Sans"/>
                <a:sym typeface="DM Sans"/>
              </a:rPr>
              <a:t>Our study reported over </a:t>
            </a:r>
            <a:r>
              <a:rPr b="1" lang="en" sz="1550">
                <a:solidFill>
                  <a:schemeClr val="dk2"/>
                </a:solidFill>
                <a:latin typeface="DM Sans"/>
                <a:ea typeface="DM Sans"/>
                <a:cs typeface="DM Sans"/>
                <a:sym typeface="DM Sans"/>
              </a:rPr>
              <a:t>15 percentage points lower </a:t>
            </a:r>
            <a:r>
              <a:rPr lang="en" sz="1550">
                <a:solidFill>
                  <a:schemeClr val="dk2"/>
                </a:solidFill>
                <a:latin typeface="DM Sans"/>
                <a:ea typeface="DM Sans"/>
                <a:cs typeface="DM Sans"/>
                <a:sym typeface="DM Sans"/>
              </a:rPr>
              <a:t>prevalence of vegetable consumption than other studies regarding college diets</a:t>
            </a:r>
            <a:r>
              <a:rPr lang="en" sz="1550">
                <a:solidFill>
                  <a:schemeClr val="dk2"/>
                </a:solidFill>
                <a:latin typeface="DM Sans"/>
                <a:ea typeface="DM Sans"/>
                <a:cs typeface="DM Sans"/>
                <a:sym typeface="DM Sans"/>
              </a:rPr>
              <a:t>.</a:t>
            </a:r>
            <a:endParaRPr baseline="30000" sz="1550">
              <a:solidFill>
                <a:schemeClr val="dk2"/>
              </a:solidFill>
              <a:latin typeface="DM Sans"/>
              <a:ea typeface="DM Sans"/>
              <a:cs typeface="DM Sans"/>
              <a:sym typeface="DM Sans"/>
            </a:endParaRPr>
          </a:p>
          <a:p>
            <a:pPr indent="0" lvl="0" marL="0" rtl="0" algn="ctr">
              <a:spcBef>
                <a:spcPts val="0"/>
              </a:spcBef>
              <a:spcAft>
                <a:spcPts val="0"/>
              </a:spcAft>
              <a:buNone/>
            </a:pPr>
            <a:r>
              <a:rPr lang="en" sz="1550">
                <a:solidFill>
                  <a:schemeClr val="dk2"/>
                </a:solidFill>
                <a:latin typeface="DM Sans"/>
                <a:ea typeface="DM Sans"/>
                <a:cs typeface="DM Sans"/>
                <a:sym typeface="DM Sans"/>
              </a:rPr>
              <a:t>(Potential </a:t>
            </a:r>
            <a:r>
              <a:rPr b="1" lang="en" sz="1550">
                <a:solidFill>
                  <a:schemeClr val="dk2"/>
                </a:solidFill>
                <a:latin typeface="DM Sans"/>
                <a:ea typeface="DM Sans"/>
                <a:cs typeface="DM Sans"/>
                <a:sym typeface="DM Sans"/>
              </a:rPr>
              <a:t>selection bias</a:t>
            </a:r>
            <a:r>
              <a:rPr lang="en" sz="1550">
                <a:solidFill>
                  <a:schemeClr val="dk2"/>
                </a:solidFill>
                <a:latin typeface="DM Sans"/>
                <a:ea typeface="DM Sans"/>
                <a:cs typeface="DM Sans"/>
                <a:sym typeface="DM Sans"/>
              </a:rPr>
              <a:t>)</a:t>
            </a:r>
            <a:endParaRPr sz="1550">
              <a:solidFill>
                <a:schemeClr val="dk2"/>
              </a:solidFill>
              <a:latin typeface="DM Sans"/>
              <a:ea typeface="DM Sans"/>
              <a:cs typeface="DM Sans"/>
              <a:sym typeface="DM Sans"/>
            </a:endParaRPr>
          </a:p>
        </p:txBody>
      </p:sp>
      <p:sp>
        <p:nvSpPr>
          <p:cNvPr id="480" name="Google Shape;480;p48"/>
          <p:cNvSpPr txBox="1"/>
          <p:nvPr/>
        </p:nvSpPr>
        <p:spPr>
          <a:xfrm>
            <a:off x="2528338" y="1969050"/>
            <a:ext cx="1812600" cy="278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chemeClr val="dk2"/>
                </a:solidFill>
                <a:latin typeface="DM Sans"/>
                <a:ea typeface="DM Sans"/>
                <a:cs typeface="DM Sans"/>
                <a:sym typeface="DM Sans"/>
              </a:rPr>
              <a:t>Students who ate on campus 5+ times a week were </a:t>
            </a:r>
            <a:r>
              <a:rPr b="1" lang="en" sz="1550">
                <a:solidFill>
                  <a:schemeClr val="dk2"/>
                </a:solidFill>
                <a:latin typeface="DM Sans"/>
                <a:ea typeface="DM Sans"/>
                <a:cs typeface="DM Sans"/>
                <a:sym typeface="DM Sans"/>
              </a:rPr>
              <a:t>2.33 times as likely</a:t>
            </a:r>
            <a:r>
              <a:rPr lang="en" sz="1550">
                <a:solidFill>
                  <a:schemeClr val="dk2"/>
                </a:solidFill>
                <a:latin typeface="DM Sans"/>
                <a:ea typeface="DM Sans"/>
                <a:cs typeface="DM Sans"/>
                <a:sym typeface="DM Sans"/>
              </a:rPr>
              <a:t> to eat 7+ vegetables a week than those that did not eat on campus 5+ times a week.</a:t>
            </a:r>
            <a:endParaRPr sz="1550">
              <a:solidFill>
                <a:schemeClr val="dk2"/>
              </a:solidFill>
              <a:latin typeface="DM Sans"/>
              <a:ea typeface="DM Sans"/>
              <a:cs typeface="DM Sans"/>
              <a:sym typeface="DM Sans"/>
            </a:endParaRPr>
          </a:p>
        </p:txBody>
      </p:sp>
      <p:sp>
        <p:nvSpPr>
          <p:cNvPr id="481" name="Google Shape;481;p48"/>
          <p:cNvSpPr txBox="1"/>
          <p:nvPr/>
        </p:nvSpPr>
        <p:spPr>
          <a:xfrm>
            <a:off x="4684425" y="2015513"/>
            <a:ext cx="1860300" cy="278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chemeClr val="dk2"/>
                </a:solidFill>
                <a:latin typeface="DM Sans"/>
                <a:ea typeface="DM Sans"/>
                <a:cs typeface="DM Sans"/>
                <a:sym typeface="DM Sans"/>
              </a:rPr>
              <a:t>This is in line with a study at GWU that found freshman ate </a:t>
            </a:r>
            <a:r>
              <a:rPr b="1" lang="en" sz="1550">
                <a:solidFill>
                  <a:schemeClr val="dk2"/>
                </a:solidFill>
                <a:latin typeface="DM Sans"/>
                <a:ea typeface="DM Sans"/>
                <a:cs typeface="DM Sans"/>
                <a:sym typeface="DM Sans"/>
              </a:rPr>
              <a:t>0.8 more servings </a:t>
            </a:r>
            <a:r>
              <a:rPr lang="en" sz="1550">
                <a:solidFill>
                  <a:schemeClr val="dk2"/>
                </a:solidFill>
                <a:latin typeface="DM Sans"/>
                <a:ea typeface="DM Sans"/>
                <a:cs typeface="DM Sans"/>
                <a:sym typeface="DM Sans"/>
              </a:rPr>
              <a:t>of vegetables on average when eating at their campus dining than when eating elsewhere</a:t>
            </a:r>
            <a:r>
              <a:rPr lang="en" sz="1550">
                <a:solidFill>
                  <a:schemeClr val="dk2"/>
                </a:solidFill>
                <a:latin typeface="DM Sans"/>
                <a:ea typeface="DM Sans"/>
                <a:cs typeface="DM Sans"/>
                <a:sym typeface="DM Sans"/>
              </a:rPr>
              <a:t>.</a:t>
            </a:r>
            <a:endParaRPr baseline="30000" sz="1550">
              <a:solidFill>
                <a:schemeClr val="dk2"/>
              </a:solidFill>
              <a:latin typeface="DM Sans"/>
              <a:ea typeface="DM Sans"/>
              <a:cs typeface="DM Sans"/>
              <a:sym typeface="DM Sans"/>
            </a:endParaRPr>
          </a:p>
        </p:txBody>
      </p:sp>
      <p:sp>
        <p:nvSpPr>
          <p:cNvPr id="482" name="Google Shape;482;p48"/>
          <p:cNvSpPr txBox="1"/>
          <p:nvPr/>
        </p:nvSpPr>
        <p:spPr>
          <a:xfrm>
            <a:off x="6877850" y="1749475"/>
            <a:ext cx="1933500" cy="302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50">
                <a:solidFill>
                  <a:schemeClr val="dk2"/>
                </a:solidFill>
                <a:latin typeface="DM Sans"/>
                <a:ea typeface="DM Sans"/>
                <a:cs typeface="DM Sans"/>
                <a:sym typeface="DM Sans"/>
              </a:rPr>
              <a:t>It is worth noting, however, that all of our OR, crude, stratified, and adjusted, contained the null value of 1, and therefore </a:t>
            </a:r>
            <a:r>
              <a:rPr b="1" lang="en" sz="1550">
                <a:solidFill>
                  <a:schemeClr val="dk2"/>
                </a:solidFill>
                <a:latin typeface="DM Sans"/>
                <a:ea typeface="DM Sans"/>
                <a:cs typeface="DM Sans"/>
                <a:sym typeface="DM Sans"/>
              </a:rPr>
              <a:t>statistically insignificant. </a:t>
            </a:r>
            <a:endParaRPr b="1" sz="1550">
              <a:solidFill>
                <a:schemeClr val="dk2"/>
              </a:solidFill>
              <a:latin typeface="DM Sans"/>
              <a:ea typeface="DM Sans"/>
              <a:cs typeface="DM Sans"/>
              <a:sym typeface="DM Sans"/>
            </a:endParaRPr>
          </a:p>
        </p:txBody>
      </p:sp>
      <p:sp>
        <p:nvSpPr>
          <p:cNvPr id="483" name="Google Shape;483;p48"/>
          <p:cNvSpPr txBox="1"/>
          <p:nvPr/>
        </p:nvSpPr>
        <p:spPr>
          <a:xfrm>
            <a:off x="340825" y="1232875"/>
            <a:ext cx="1812600" cy="51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50" u="sng">
                <a:solidFill>
                  <a:schemeClr val="dk1"/>
                </a:solidFill>
                <a:latin typeface="Merriweather"/>
                <a:ea typeface="Merriweather"/>
                <a:cs typeface="Merriweather"/>
                <a:sym typeface="Merriweather"/>
              </a:rPr>
              <a:t>Outcome Prevalence</a:t>
            </a:r>
            <a:endParaRPr b="1" sz="1750" u="sng">
              <a:solidFill>
                <a:schemeClr val="dk1"/>
              </a:solidFill>
              <a:latin typeface="Merriweather"/>
              <a:ea typeface="Merriweather"/>
              <a:cs typeface="Merriweather"/>
              <a:sym typeface="Merriweather"/>
            </a:endParaRPr>
          </a:p>
        </p:txBody>
      </p:sp>
      <p:sp>
        <p:nvSpPr>
          <p:cNvPr id="484" name="Google Shape;484;p48"/>
          <p:cNvSpPr txBox="1"/>
          <p:nvPr/>
        </p:nvSpPr>
        <p:spPr>
          <a:xfrm>
            <a:off x="2588091" y="1320113"/>
            <a:ext cx="1716300" cy="69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50" u="sng">
                <a:solidFill>
                  <a:schemeClr val="dk1"/>
                </a:solidFill>
                <a:latin typeface="Merriweather"/>
                <a:ea typeface="Merriweather"/>
                <a:cs typeface="Merriweather"/>
                <a:sym typeface="Merriweather"/>
              </a:rPr>
              <a:t>Exposure-</a:t>
            </a:r>
            <a:endParaRPr b="1" sz="1750" u="sng">
              <a:solidFill>
                <a:schemeClr val="dk1"/>
              </a:solidFill>
              <a:latin typeface="Merriweather"/>
              <a:ea typeface="Merriweather"/>
              <a:cs typeface="Merriweather"/>
              <a:sym typeface="Merriweather"/>
            </a:endParaRPr>
          </a:p>
          <a:p>
            <a:pPr indent="0" lvl="0" marL="0" rtl="0" algn="ctr">
              <a:spcBef>
                <a:spcPts val="0"/>
              </a:spcBef>
              <a:spcAft>
                <a:spcPts val="0"/>
              </a:spcAft>
              <a:buNone/>
            </a:pPr>
            <a:r>
              <a:rPr b="1" lang="en" sz="1750" u="sng">
                <a:solidFill>
                  <a:schemeClr val="dk1"/>
                </a:solidFill>
                <a:latin typeface="Merriweather"/>
                <a:ea typeface="Merriweather"/>
                <a:cs typeface="Merriweather"/>
                <a:sym typeface="Merriweather"/>
              </a:rPr>
              <a:t>Outcome Association</a:t>
            </a:r>
            <a:endParaRPr b="1" sz="1750" u="sng">
              <a:solidFill>
                <a:schemeClr val="dk1"/>
              </a:solidFill>
              <a:latin typeface="Merriweather"/>
              <a:ea typeface="Merriweather"/>
              <a:cs typeface="Merriweather"/>
              <a:sym typeface="Merriweather"/>
            </a:endParaRPr>
          </a:p>
        </p:txBody>
      </p:sp>
      <p:sp>
        <p:nvSpPr>
          <p:cNvPr id="485" name="Google Shape;485;p48"/>
          <p:cNvSpPr txBox="1"/>
          <p:nvPr/>
        </p:nvSpPr>
        <p:spPr>
          <a:xfrm>
            <a:off x="4735553" y="1320113"/>
            <a:ext cx="1716300" cy="69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50" u="sng">
                <a:solidFill>
                  <a:schemeClr val="dk1"/>
                </a:solidFill>
                <a:latin typeface="Merriweather"/>
                <a:ea typeface="Merriweather"/>
                <a:cs typeface="Merriweather"/>
                <a:sym typeface="Merriweather"/>
              </a:rPr>
              <a:t>Comparison to Existing Literature</a:t>
            </a:r>
            <a:endParaRPr b="1" sz="1750" u="sng">
              <a:solidFill>
                <a:schemeClr val="dk1"/>
              </a:solidFill>
              <a:latin typeface="Merriweather"/>
              <a:ea typeface="Merriweather"/>
              <a:cs typeface="Merriweather"/>
              <a:sym typeface="Merriweather"/>
            </a:endParaRPr>
          </a:p>
        </p:txBody>
      </p:sp>
      <p:sp>
        <p:nvSpPr>
          <p:cNvPr id="486" name="Google Shape;486;p48"/>
          <p:cNvSpPr txBox="1"/>
          <p:nvPr/>
        </p:nvSpPr>
        <p:spPr>
          <a:xfrm>
            <a:off x="6914400" y="1232875"/>
            <a:ext cx="1812600" cy="69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50" u="sng">
                <a:solidFill>
                  <a:schemeClr val="dk1"/>
                </a:solidFill>
                <a:latin typeface="Merriweather"/>
                <a:ea typeface="Merriweather"/>
                <a:cs typeface="Merriweather"/>
                <a:sym typeface="Merriweather"/>
              </a:rPr>
              <a:t>Statistical Significance</a:t>
            </a:r>
            <a:endParaRPr b="1" sz="1750" u="sng">
              <a:solidFill>
                <a:schemeClr val="dk1"/>
              </a:solidFill>
              <a:latin typeface="Merriweather"/>
              <a:ea typeface="Merriweather"/>
              <a:cs typeface="Merriweather"/>
              <a:sym typeface="Merriweath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9"/>
          <p:cNvSpPr/>
          <p:nvPr/>
        </p:nvSpPr>
        <p:spPr>
          <a:xfrm>
            <a:off x="4339275" y="3224625"/>
            <a:ext cx="4254300" cy="16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92" name="Google Shape;492;p49"/>
          <p:cNvSpPr/>
          <p:nvPr/>
        </p:nvSpPr>
        <p:spPr>
          <a:xfrm>
            <a:off x="573675" y="3242925"/>
            <a:ext cx="3259500" cy="157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93" name="Google Shape;493;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4" name="Google Shape;494;p49"/>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Discussion</a:t>
            </a:r>
            <a:endParaRPr/>
          </a:p>
        </p:txBody>
      </p:sp>
      <p:sp>
        <p:nvSpPr>
          <p:cNvPr id="495" name="Google Shape;495;p49"/>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496" name="Google Shape;496;p49"/>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Strengths</a:t>
            </a:r>
            <a:endParaRPr b="1" sz="3650">
              <a:solidFill>
                <a:schemeClr val="dk1"/>
              </a:solidFill>
              <a:latin typeface="Merriweather"/>
              <a:ea typeface="Merriweather"/>
              <a:cs typeface="Merriweather"/>
              <a:sym typeface="Merriweather"/>
            </a:endParaRPr>
          </a:p>
        </p:txBody>
      </p:sp>
      <p:sp>
        <p:nvSpPr>
          <p:cNvPr id="497" name="Google Shape;497;p49"/>
          <p:cNvSpPr/>
          <p:nvPr/>
        </p:nvSpPr>
        <p:spPr>
          <a:xfrm>
            <a:off x="550425" y="1389025"/>
            <a:ext cx="3306000" cy="16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98" name="Google Shape;498;p49"/>
          <p:cNvSpPr txBox="1"/>
          <p:nvPr/>
        </p:nvSpPr>
        <p:spPr>
          <a:xfrm>
            <a:off x="738809" y="1371625"/>
            <a:ext cx="28692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Social Desirability Bias</a:t>
            </a:r>
            <a:endParaRPr b="1" sz="1850" u="sng">
              <a:solidFill>
                <a:schemeClr val="dk1"/>
              </a:solidFill>
              <a:latin typeface="Merriweather"/>
              <a:ea typeface="Merriweather"/>
              <a:cs typeface="Merriweather"/>
              <a:sym typeface="Merriweather"/>
            </a:endParaRPr>
          </a:p>
        </p:txBody>
      </p:sp>
      <p:sp>
        <p:nvSpPr>
          <p:cNvPr id="499" name="Google Shape;499;p49"/>
          <p:cNvSpPr txBox="1"/>
          <p:nvPr/>
        </p:nvSpPr>
        <p:spPr>
          <a:xfrm>
            <a:off x="643425" y="1659800"/>
            <a:ext cx="3306000" cy="12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2"/>
                </a:solidFill>
                <a:latin typeface="DM Sans"/>
                <a:ea typeface="DM Sans"/>
                <a:cs typeface="DM Sans"/>
                <a:sym typeface="DM Sans"/>
              </a:rPr>
              <a:t>Social desirability bias </a:t>
            </a:r>
            <a:r>
              <a:rPr lang="en" sz="1900">
                <a:solidFill>
                  <a:schemeClr val="dk2"/>
                </a:solidFill>
                <a:latin typeface="DM Sans"/>
                <a:ea typeface="DM Sans"/>
                <a:cs typeface="DM Sans"/>
                <a:sym typeface="DM Sans"/>
              </a:rPr>
              <a:t>was reduced through anonymous survey design</a:t>
            </a:r>
            <a:endParaRPr b="1" sz="1900">
              <a:solidFill>
                <a:schemeClr val="dk2"/>
              </a:solidFill>
              <a:latin typeface="DM Sans"/>
              <a:ea typeface="DM Sans"/>
              <a:cs typeface="DM Sans"/>
              <a:sym typeface="DM Sans"/>
            </a:endParaRPr>
          </a:p>
        </p:txBody>
      </p:sp>
      <p:sp>
        <p:nvSpPr>
          <p:cNvPr id="500" name="Google Shape;500;p49"/>
          <p:cNvSpPr txBox="1"/>
          <p:nvPr/>
        </p:nvSpPr>
        <p:spPr>
          <a:xfrm>
            <a:off x="720191" y="3272250"/>
            <a:ext cx="2996700" cy="340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Measurement Accuracy</a:t>
            </a:r>
            <a:endParaRPr b="1" sz="1850" u="sng">
              <a:solidFill>
                <a:schemeClr val="dk1"/>
              </a:solidFill>
              <a:latin typeface="Merriweather"/>
              <a:ea typeface="Merriweather"/>
              <a:cs typeface="Merriweather"/>
              <a:sym typeface="Merriweather"/>
            </a:endParaRPr>
          </a:p>
        </p:txBody>
      </p:sp>
      <p:sp>
        <p:nvSpPr>
          <p:cNvPr id="501" name="Google Shape;501;p49"/>
          <p:cNvSpPr txBox="1"/>
          <p:nvPr/>
        </p:nvSpPr>
        <p:spPr>
          <a:xfrm>
            <a:off x="678575" y="3492257"/>
            <a:ext cx="31545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2"/>
                </a:solidFill>
                <a:latin typeface="DM Sans"/>
                <a:ea typeface="DM Sans"/>
                <a:cs typeface="DM Sans"/>
                <a:sym typeface="DM Sans"/>
              </a:rPr>
              <a:t>Survey instrument</a:t>
            </a:r>
            <a:r>
              <a:rPr lang="en" sz="1900">
                <a:solidFill>
                  <a:schemeClr val="dk2"/>
                </a:solidFill>
                <a:latin typeface="DM Sans"/>
                <a:ea typeface="DM Sans"/>
                <a:cs typeface="DM Sans"/>
                <a:sym typeface="DM Sans"/>
              </a:rPr>
              <a:t> pilot tested and revised based on feedback</a:t>
            </a:r>
            <a:endParaRPr sz="1900">
              <a:solidFill>
                <a:schemeClr val="dk2"/>
              </a:solidFill>
              <a:latin typeface="DM Sans"/>
              <a:ea typeface="DM Sans"/>
              <a:cs typeface="DM Sans"/>
              <a:sym typeface="DM Sans"/>
            </a:endParaRPr>
          </a:p>
          <a:p>
            <a:pPr indent="0" lvl="0" marL="0" rtl="0" algn="l">
              <a:spcBef>
                <a:spcPts val="0"/>
              </a:spcBef>
              <a:spcAft>
                <a:spcPts val="0"/>
              </a:spcAft>
              <a:buNone/>
            </a:pPr>
            <a:r>
              <a:t/>
            </a:r>
            <a:endParaRPr b="1" sz="1900">
              <a:solidFill>
                <a:schemeClr val="dk2"/>
              </a:solidFill>
              <a:latin typeface="DM Sans"/>
              <a:ea typeface="DM Sans"/>
              <a:cs typeface="DM Sans"/>
              <a:sym typeface="DM Sans"/>
            </a:endParaRPr>
          </a:p>
        </p:txBody>
      </p:sp>
      <p:sp>
        <p:nvSpPr>
          <p:cNvPr id="502" name="Google Shape;502;p49"/>
          <p:cNvSpPr/>
          <p:nvPr/>
        </p:nvSpPr>
        <p:spPr>
          <a:xfrm>
            <a:off x="4306300" y="1389025"/>
            <a:ext cx="4254300" cy="161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03" name="Google Shape;503;p49"/>
          <p:cNvSpPr txBox="1"/>
          <p:nvPr/>
        </p:nvSpPr>
        <p:spPr>
          <a:xfrm>
            <a:off x="5389725" y="1371625"/>
            <a:ext cx="21534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Internal Validity</a:t>
            </a:r>
            <a:endParaRPr b="1" sz="1850" u="sng">
              <a:solidFill>
                <a:schemeClr val="dk1"/>
              </a:solidFill>
              <a:latin typeface="Merriweather"/>
              <a:ea typeface="Merriweather"/>
              <a:cs typeface="Merriweather"/>
              <a:sym typeface="Merriweather"/>
            </a:endParaRPr>
          </a:p>
        </p:txBody>
      </p:sp>
      <p:sp>
        <p:nvSpPr>
          <p:cNvPr id="504" name="Google Shape;504;p49"/>
          <p:cNvSpPr txBox="1"/>
          <p:nvPr/>
        </p:nvSpPr>
        <p:spPr>
          <a:xfrm>
            <a:off x="4476375" y="1659625"/>
            <a:ext cx="3980100" cy="12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2"/>
                </a:solidFill>
                <a:latin typeface="DM Sans"/>
                <a:ea typeface="DM Sans"/>
                <a:cs typeface="DM Sans"/>
                <a:sym typeface="DM Sans"/>
              </a:rPr>
              <a:t>Multiple food sources</a:t>
            </a:r>
            <a:r>
              <a:rPr lang="en" sz="1900">
                <a:solidFill>
                  <a:schemeClr val="dk2"/>
                </a:solidFill>
                <a:latin typeface="DM Sans"/>
                <a:ea typeface="DM Sans"/>
                <a:cs typeface="DM Sans"/>
                <a:sym typeface="DM Sans"/>
              </a:rPr>
              <a:t> were accounted for beyond dining halls, strengthening internal validity</a:t>
            </a:r>
            <a:endParaRPr b="1" sz="1900">
              <a:solidFill>
                <a:schemeClr val="dk2"/>
              </a:solidFill>
              <a:latin typeface="DM Sans"/>
              <a:ea typeface="DM Sans"/>
              <a:cs typeface="DM Sans"/>
              <a:sym typeface="DM Sans"/>
            </a:endParaRPr>
          </a:p>
          <a:p>
            <a:pPr indent="0" lvl="0" marL="0" rtl="0" algn="l">
              <a:spcBef>
                <a:spcPts val="0"/>
              </a:spcBef>
              <a:spcAft>
                <a:spcPts val="0"/>
              </a:spcAft>
              <a:buNone/>
            </a:pPr>
            <a:r>
              <a:t/>
            </a:r>
            <a:endParaRPr b="1" sz="1900">
              <a:solidFill>
                <a:schemeClr val="dk2"/>
              </a:solidFill>
              <a:latin typeface="DM Sans"/>
              <a:ea typeface="DM Sans"/>
              <a:cs typeface="DM Sans"/>
              <a:sym typeface="DM Sans"/>
            </a:endParaRPr>
          </a:p>
        </p:txBody>
      </p:sp>
      <p:sp>
        <p:nvSpPr>
          <p:cNvPr id="505" name="Google Shape;505;p49"/>
          <p:cNvSpPr txBox="1"/>
          <p:nvPr/>
        </p:nvSpPr>
        <p:spPr>
          <a:xfrm>
            <a:off x="5339475" y="3245850"/>
            <a:ext cx="225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Confounding Bias</a:t>
            </a:r>
            <a:endParaRPr b="1" sz="1850" u="sng">
              <a:solidFill>
                <a:schemeClr val="dk1"/>
              </a:solidFill>
              <a:latin typeface="Merriweather"/>
              <a:ea typeface="Merriweather"/>
              <a:cs typeface="Merriweather"/>
              <a:sym typeface="Merriweather"/>
            </a:endParaRPr>
          </a:p>
        </p:txBody>
      </p:sp>
      <p:sp>
        <p:nvSpPr>
          <p:cNvPr id="506" name="Google Shape;506;p49"/>
          <p:cNvSpPr txBox="1"/>
          <p:nvPr/>
        </p:nvSpPr>
        <p:spPr>
          <a:xfrm>
            <a:off x="4544425" y="3513525"/>
            <a:ext cx="39801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dk2"/>
                </a:solidFill>
                <a:latin typeface="DM Sans"/>
                <a:ea typeface="DM Sans"/>
                <a:cs typeface="DM Sans"/>
                <a:sym typeface="DM Sans"/>
              </a:rPr>
              <a:t>Confounders </a:t>
            </a:r>
            <a:r>
              <a:rPr lang="en" sz="1900">
                <a:solidFill>
                  <a:schemeClr val="dk2"/>
                </a:solidFill>
                <a:latin typeface="DM Sans"/>
                <a:ea typeface="DM Sans"/>
                <a:cs typeface="DM Sans"/>
                <a:sym typeface="DM Sans"/>
              </a:rPr>
              <a:t>were identified and controlled for, reducing confounding bias</a:t>
            </a:r>
            <a:endParaRPr sz="1900">
              <a:solidFill>
                <a:schemeClr val="dk2"/>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0"/>
          <p:cNvSpPr/>
          <p:nvPr/>
        </p:nvSpPr>
        <p:spPr>
          <a:xfrm>
            <a:off x="4339275" y="3050374"/>
            <a:ext cx="4254300" cy="1775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2" name="Google Shape;512;p50"/>
          <p:cNvSpPr/>
          <p:nvPr/>
        </p:nvSpPr>
        <p:spPr>
          <a:xfrm>
            <a:off x="573675" y="3068673"/>
            <a:ext cx="3259500" cy="1775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3" name="Google Shape;51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50"/>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Discussion</a:t>
            </a:r>
            <a:endParaRPr/>
          </a:p>
        </p:txBody>
      </p:sp>
      <p:sp>
        <p:nvSpPr>
          <p:cNvPr id="515" name="Google Shape;515;p50"/>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516" name="Google Shape;516;p50"/>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Weaknesses</a:t>
            </a:r>
            <a:endParaRPr b="1" sz="3650">
              <a:solidFill>
                <a:schemeClr val="dk1"/>
              </a:solidFill>
              <a:latin typeface="Merriweather"/>
              <a:ea typeface="Merriweather"/>
              <a:cs typeface="Merriweather"/>
              <a:sym typeface="Merriweather"/>
            </a:endParaRPr>
          </a:p>
        </p:txBody>
      </p:sp>
      <p:sp>
        <p:nvSpPr>
          <p:cNvPr id="517" name="Google Shape;517;p50"/>
          <p:cNvSpPr/>
          <p:nvPr/>
        </p:nvSpPr>
        <p:spPr>
          <a:xfrm>
            <a:off x="550425" y="1389025"/>
            <a:ext cx="3306000" cy="145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18" name="Google Shape;518;p50"/>
          <p:cNvSpPr txBox="1"/>
          <p:nvPr/>
        </p:nvSpPr>
        <p:spPr>
          <a:xfrm>
            <a:off x="1206657" y="1371625"/>
            <a:ext cx="19335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Selection Bias</a:t>
            </a:r>
            <a:endParaRPr b="1" sz="1850" u="sng">
              <a:solidFill>
                <a:schemeClr val="dk1"/>
              </a:solidFill>
              <a:latin typeface="Merriweather"/>
              <a:ea typeface="Merriweather"/>
              <a:cs typeface="Merriweather"/>
              <a:sym typeface="Merriweather"/>
            </a:endParaRPr>
          </a:p>
        </p:txBody>
      </p:sp>
      <p:sp>
        <p:nvSpPr>
          <p:cNvPr id="519" name="Google Shape;519;p50"/>
          <p:cNvSpPr txBox="1"/>
          <p:nvPr/>
        </p:nvSpPr>
        <p:spPr>
          <a:xfrm>
            <a:off x="643425" y="1659800"/>
            <a:ext cx="3306000" cy="12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DM Sans"/>
                <a:ea typeface="DM Sans"/>
                <a:cs typeface="DM Sans"/>
                <a:sym typeface="DM Sans"/>
              </a:rPr>
              <a:t>Low response rate</a:t>
            </a:r>
            <a:r>
              <a:rPr lang="en">
                <a:solidFill>
                  <a:schemeClr val="dk2"/>
                </a:solidFill>
                <a:latin typeface="DM Sans"/>
                <a:ea typeface="DM Sans"/>
                <a:cs typeface="DM Sans"/>
                <a:sym typeface="DM Sans"/>
              </a:rPr>
              <a:t> (3.6%) may introduce selection bias</a:t>
            </a:r>
            <a:endParaRPr>
              <a:solidFill>
                <a:schemeClr val="dk2"/>
              </a:solidFill>
              <a:latin typeface="DM Sans"/>
              <a:ea typeface="DM Sans"/>
              <a:cs typeface="DM Sans"/>
              <a:sym typeface="DM Sans"/>
            </a:endParaRPr>
          </a:p>
        </p:txBody>
      </p:sp>
      <p:sp>
        <p:nvSpPr>
          <p:cNvPr id="520" name="Google Shape;520;p50"/>
          <p:cNvSpPr txBox="1"/>
          <p:nvPr/>
        </p:nvSpPr>
        <p:spPr>
          <a:xfrm>
            <a:off x="1254866" y="3091919"/>
            <a:ext cx="1788600" cy="31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Confounding</a:t>
            </a:r>
            <a:endParaRPr b="1" sz="1850" u="sng">
              <a:solidFill>
                <a:schemeClr val="dk1"/>
              </a:solidFill>
              <a:latin typeface="Merriweather"/>
              <a:ea typeface="Merriweather"/>
              <a:cs typeface="Merriweather"/>
              <a:sym typeface="Merriweather"/>
            </a:endParaRPr>
          </a:p>
        </p:txBody>
      </p:sp>
      <p:sp>
        <p:nvSpPr>
          <p:cNvPr id="521" name="Google Shape;521;p50"/>
          <p:cNvSpPr txBox="1"/>
          <p:nvPr/>
        </p:nvSpPr>
        <p:spPr>
          <a:xfrm>
            <a:off x="678575" y="3318019"/>
            <a:ext cx="31545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n">
                <a:solidFill>
                  <a:schemeClr val="dk2"/>
                </a:solidFill>
                <a:latin typeface="DM Sans"/>
                <a:ea typeface="DM Sans"/>
                <a:cs typeface="DM Sans"/>
                <a:sym typeface="DM Sans"/>
              </a:rPr>
              <a:t>Residual confounding</a:t>
            </a:r>
            <a:r>
              <a:rPr lang="en">
                <a:solidFill>
                  <a:schemeClr val="dk2"/>
                </a:solidFill>
                <a:latin typeface="DM Sans"/>
                <a:ea typeface="DM Sans"/>
                <a:cs typeface="DM Sans"/>
                <a:sym typeface="DM Sans"/>
              </a:rPr>
              <a:t> from unmeasured variables possible</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a:p>
            <a:pPr indent="0" lvl="0" marL="0" rtl="0" algn="l">
              <a:spcBef>
                <a:spcPts val="0"/>
              </a:spcBef>
              <a:spcAft>
                <a:spcPts val="0"/>
              </a:spcAft>
              <a:buNone/>
            </a:pPr>
            <a:r>
              <a:rPr b="1" lang="en">
                <a:solidFill>
                  <a:schemeClr val="dk2"/>
                </a:solidFill>
                <a:latin typeface="DM Sans"/>
                <a:ea typeface="DM Sans"/>
                <a:cs typeface="DM Sans"/>
                <a:sym typeface="DM Sans"/>
              </a:rPr>
              <a:t>Cross-sectional</a:t>
            </a:r>
            <a:r>
              <a:rPr lang="en">
                <a:solidFill>
                  <a:schemeClr val="dk2"/>
                </a:solidFill>
                <a:latin typeface="DM Sans"/>
                <a:ea typeface="DM Sans"/>
                <a:cs typeface="DM Sans"/>
                <a:sym typeface="DM Sans"/>
              </a:rPr>
              <a:t> design makes it difficult to establish temporality</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p:txBody>
      </p:sp>
      <p:sp>
        <p:nvSpPr>
          <p:cNvPr id="522" name="Google Shape;522;p50"/>
          <p:cNvSpPr/>
          <p:nvPr/>
        </p:nvSpPr>
        <p:spPr>
          <a:xfrm>
            <a:off x="4306300" y="1389025"/>
            <a:ext cx="4254300" cy="145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23" name="Google Shape;523;p50"/>
          <p:cNvSpPr txBox="1"/>
          <p:nvPr/>
        </p:nvSpPr>
        <p:spPr>
          <a:xfrm>
            <a:off x="5503300" y="1371625"/>
            <a:ext cx="18603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Sampling Bias</a:t>
            </a:r>
            <a:endParaRPr b="1" sz="1850" u="sng">
              <a:solidFill>
                <a:schemeClr val="dk1"/>
              </a:solidFill>
              <a:latin typeface="Merriweather"/>
              <a:ea typeface="Merriweather"/>
              <a:cs typeface="Merriweather"/>
              <a:sym typeface="Merriweather"/>
            </a:endParaRPr>
          </a:p>
        </p:txBody>
      </p:sp>
      <p:sp>
        <p:nvSpPr>
          <p:cNvPr id="524" name="Google Shape;524;p50"/>
          <p:cNvSpPr txBox="1"/>
          <p:nvPr/>
        </p:nvSpPr>
        <p:spPr>
          <a:xfrm>
            <a:off x="4429912" y="1659625"/>
            <a:ext cx="3980100" cy="12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n">
                <a:solidFill>
                  <a:schemeClr val="dk2"/>
                </a:solidFill>
                <a:latin typeface="DM Sans"/>
                <a:ea typeface="DM Sans"/>
                <a:cs typeface="DM Sans"/>
                <a:sym typeface="DM Sans"/>
              </a:rPr>
              <a:t>Convenience sampling</a:t>
            </a:r>
            <a:r>
              <a:rPr lang="en">
                <a:solidFill>
                  <a:schemeClr val="dk2"/>
                </a:solidFill>
                <a:latin typeface="DM Sans"/>
                <a:ea typeface="DM Sans"/>
                <a:cs typeface="DM Sans"/>
                <a:sym typeface="DM Sans"/>
              </a:rPr>
              <a:t> overrepresents juniors and seniors, limiting generalizability</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rPr b="1" lang="en">
                <a:solidFill>
                  <a:schemeClr val="dk2"/>
                </a:solidFill>
                <a:latin typeface="DM Sans"/>
                <a:ea typeface="DM Sans"/>
                <a:cs typeface="DM Sans"/>
                <a:sym typeface="DM Sans"/>
              </a:rPr>
              <a:t>Small sample size</a:t>
            </a:r>
            <a:r>
              <a:rPr lang="en">
                <a:solidFill>
                  <a:schemeClr val="dk2"/>
                </a:solidFill>
                <a:latin typeface="DM Sans"/>
                <a:ea typeface="DM Sans"/>
                <a:cs typeface="DM Sans"/>
                <a:sym typeface="DM Sans"/>
              </a:rPr>
              <a:t> limits generalizability</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p:txBody>
      </p:sp>
      <p:sp>
        <p:nvSpPr>
          <p:cNvPr id="525" name="Google Shape;525;p50"/>
          <p:cNvSpPr txBox="1"/>
          <p:nvPr/>
        </p:nvSpPr>
        <p:spPr>
          <a:xfrm>
            <a:off x="5368575" y="3053812"/>
            <a:ext cx="2195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50" u="sng">
                <a:solidFill>
                  <a:schemeClr val="dk1"/>
                </a:solidFill>
                <a:latin typeface="Merriweather"/>
                <a:ea typeface="Merriweather"/>
                <a:cs typeface="Merriweather"/>
                <a:sym typeface="Merriweather"/>
              </a:rPr>
              <a:t>Information Bias</a:t>
            </a:r>
            <a:endParaRPr b="1" sz="1850" u="sng">
              <a:solidFill>
                <a:schemeClr val="dk1"/>
              </a:solidFill>
              <a:latin typeface="Merriweather"/>
              <a:ea typeface="Merriweather"/>
              <a:cs typeface="Merriweather"/>
              <a:sym typeface="Merriweather"/>
            </a:endParaRPr>
          </a:p>
        </p:txBody>
      </p:sp>
      <p:sp>
        <p:nvSpPr>
          <p:cNvPr id="526" name="Google Shape;526;p50"/>
          <p:cNvSpPr txBox="1"/>
          <p:nvPr/>
        </p:nvSpPr>
        <p:spPr>
          <a:xfrm>
            <a:off x="4497962" y="3339287"/>
            <a:ext cx="39801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solidFill>
                  <a:schemeClr val="dk2"/>
                </a:solidFill>
                <a:latin typeface="DM Sans"/>
                <a:ea typeface="DM Sans"/>
                <a:cs typeface="DM Sans"/>
                <a:sym typeface="DM Sans"/>
              </a:rPr>
              <a:t>Self-reported vegetable intake subject to </a:t>
            </a:r>
            <a:r>
              <a:rPr b="1" lang="en">
                <a:solidFill>
                  <a:schemeClr val="dk2"/>
                </a:solidFill>
                <a:latin typeface="DM Sans"/>
                <a:ea typeface="DM Sans"/>
                <a:cs typeface="DM Sans"/>
                <a:sym typeface="DM Sans"/>
              </a:rPr>
              <a:t>non-differential misclassification</a:t>
            </a:r>
            <a:r>
              <a:rPr lang="en">
                <a:solidFill>
                  <a:schemeClr val="dk2"/>
                </a:solidFill>
                <a:latin typeface="DM Sans"/>
                <a:ea typeface="DM Sans"/>
                <a:cs typeface="DM Sans"/>
                <a:sym typeface="DM Sans"/>
              </a:rPr>
              <a:t>, biasing toward the null</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a:p>
            <a:pPr indent="0" lvl="0" marL="0" rtl="0" algn="l">
              <a:spcBef>
                <a:spcPts val="0"/>
              </a:spcBef>
              <a:spcAft>
                <a:spcPts val="0"/>
              </a:spcAft>
              <a:buNone/>
            </a:pPr>
            <a:r>
              <a:rPr b="1" lang="en">
                <a:solidFill>
                  <a:schemeClr val="dk2"/>
                </a:solidFill>
                <a:latin typeface="DM Sans"/>
                <a:ea typeface="DM Sans"/>
                <a:cs typeface="DM Sans"/>
                <a:sym typeface="DM Sans"/>
              </a:rPr>
              <a:t>Recall bias</a:t>
            </a:r>
            <a:r>
              <a:rPr lang="en">
                <a:solidFill>
                  <a:schemeClr val="dk2"/>
                </a:solidFill>
                <a:latin typeface="DM Sans"/>
                <a:ea typeface="DM Sans"/>
                <a:cs typeface="DM Sans"/>
                <a:sym typeface="DM Sans"/>
              </a:rPr>
              <a:t> may have inflated vegetable consumption prevalence</a:t>
            </a:r>
            <a:endParaRPr>
              <a:solidFill>
                <a:schemeClr val="dk2"/>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5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Discussion</a:t>
            </a:r>
            <a:endParaRPr/>
          </a:p>
        </p:txBody>
      </p:sp>
      <p:sp>
        <p:nvSpPr>
          <p:cNvPr id="533" name="Google Shape;533;p5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534" name="Google Shape;534;p51"/>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Conclusion</a:t>
            </a:r>
            <a:endParaRPr b="1" sz="3650">
              <a:solidFill>
                <a:schemeClr val="dk1"/>
              </a:solidFill>
              <a:latin typeface="Merriweather"/>
              <a:ea typeface="Merriweather"/>
              <a:cs typeface="Merriweather"/>
              <a:sym typeface="Merriweather"/>
            </a:endParaRPr>
          </a:p>
        </p:txBody>
      </p:sp>
      <p:sp>
        <p:nvSpPr>
          <p:cNvPr id="535" name="Google Shape;535;p51"/>
          <p:cNvSpPr/>
          <p:nvPr/>
        </p:nvSpPr>
        <p:spPr>
          <a:xfrm>
            <a:off x="622175" y="1209625"/>
            <a:ext cx="2253900" cy="356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36" name="Google Shape;536;p51"/>
          <p:cNvSpPr txBox="1"/>
          <p:nvPr/>
        </p:nvSpPr>
        <p:spPr>
          <a:xfrm>
            <a:off x="646025" y="1772700"/>
            <a:ext cx="2253900" cy="300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a:ea typeface="DM Sans"/>
                <a:cs typeface="DM Sans"/>
                <a:sym typeface="DM Sans"/>
              </a:rPr>
              <a:t>Dietary decisions starting in college follow into adulthood, so being able to identify modifiable factors such as dining hall activity that shape vegetable consumption is meaningful for long-term health.</a:t>
            </a:r>
            <a:endParaRPr sz="1600">
              <a:solidFill>
                <a:schemeClr val="dk2"/>
              </a:solidFill>
              <a:latin typeface="DM Sans"/>
              <a:ea typeface="DM Sans"/>
              <a:cs typeface="DM Sans"/>
              <a:sym typeface="DM Sans"/>
            </a:endParaRPr>
          </a:p>
        </p:txBody>
      </p:sp>
      <p:sp>
        <p:nvSpPr>
          <p:cNvPr id="537" name="Google Shape;537;p51"/>
          <p:cNvSpPr txBox="1"/>
          <p:nvPr/>
        </p:nvSpPr>
        <p:spPr>
          <a:xfrm>
            <a:off x="731800" y="1279332"/>
            <a:ext cx="1986600" cy="51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50" u="sng">
                <a:solidFill>
                  <a:schemeClr val="dk1"/>
                </a:solidFill>
                <a:latin typeface="Merriweather"/>
                <a:ea typeface="Merriweather"/>
                <a:cs typeface="Merriweather"/>
                <a:sym typeface="Merriweather"/>
              </a:rPr>
              <a:t>Public Health Significance</a:t>
            </a:r>
            <a:endParaRPr b="1" sz="1850" u="sng">
              <a:solidFill>
                <a:schemeClr val="dk1"/>
              </a:solidFill>
              <a:latin typeface="Merriweather"/>
              <a:ea typeface="Merriweather"/>
              <a:cs typeface="Merriweather"/>
              <a:sym typeface="Merriweather"/>
            </a:endParaRPr>
          </a:p>
        </p:txBody>
      </p:sp>
      <p:sp>
        <p:nvSpPr>
          <p:cNvPr id="538" name="Google Shape;538;p51"/>
          <p:cNvSpPr/>
          <p:nvPr/>
        </p:nvSpPr>
        <p:spPr>
          <a:xfrm>
            <a:off x="5619825" y="1186825"/>
            <a:ext cx="2878200" cy="356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39" name="Google Shape;539;p51"/>
          <p:cNvSpPr txBox="1"/>
          <p:nvPr/>
        </p:nvSpPr>
        <p:spPr>
          <a:xfrm>
            <a:off x="5643625" y="1696225"/>
            <a:ext cx="2878200" cy="30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a:ea typeface="DM Sans"/>
                <a:cs typeface="DM Sans"/>
                <a:sym typeface="DM Sans"/>
              </a:rPr>
              <a:t>Our study suggests that the dining halls could cause students to eat more vegetables. Lowering barriers to meal plans by making it cheaper, or offering delivery options for off-campus students is the next step for increasing UNC students’ vegetable consumption.</a:t>
            </a:r>
            <a:endParaRPr sz="1600">
              <a:solidFill>
                <a:schemeClr val="dk2"/>
              </a:solidFill>
              <a:latin typeface="DM Sans"/>
              <a:ea typeface="DM Sans"/>
              <a:cs typeface="DM Sans"/>
              <a:sym typeface="DM Sans"/>
            </a:endParaRPr>
          </a:p>
        </p:txBody>
      </p:sp>
      <p:sp>
        <p:nvSpPr>
          <p:cNvPr id="540" name="Google Shape;540;p51"/>
          <p:cNvSpPr txBox="1"/>
          <p:nvPr/>
        </p:nvSpPr>
        <p:spPr>
          <a:xfrm>
            <a:off x="5749850" y="1256532"/>
            <a:ext cx="26136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50" u="sng">
                <a:solidFill>
                  <a:schemeClr val="dk1"/>
                </a:solidFill>
                <a:latin typeface="Merriweather"/>
                <a:ea typeface="Merriweather"/>
                <a:cs typeface="Merriweather"/>
                <a:sym typeface="Merriweather"/>
              </a:rPr>
              <a:t>Recommendations</a:t>
            </a:r>
            <a:endParaRPr b="1" sz="1850" u="sng">
              <a:solidFill>
                <a:schemeClr val="dk1"/>
              </a:solidFill>
              <a:latin typeface="Merriweather"/>
              <a:ea typeface="Merriweather"/>
              <a:cs typeface="Merriweather"/>
              <a:sym typeface="Merriweather"/>
            </a:endParaRPr>
          </a:p>
        </p:txBody>
      </p:sp>
      <p:sp>
        <p:nvSpPr>
          <p:cNvPr id="541" name="Google Shape;541;p51"/>
          <p:cNvSpPr/>
          <p:nvPr/>
        </p:nvSpPr>
        <p:spPr>
          <a:xfrm>
            <a:off x="3121000" y="1209625"/>
            <a:ext cx="2253900" cy="3564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42" name="Google Shape;542;p51"/>
          <p:cNvSpPr txBox="1"/>
          <p:nvPr/>
        </p:nvSpPr>
        <p:spPr>
          <a:xfrm>
            <a:off x="3331325" y="1279332"/>
            <a:ext cx="1860300" cy="51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50" u="sng">
                <a:solidFill>
                  <a:schemeClr val="dk1"/>
                </a:solidFill>
                <a:latin typeface="Merriweather"/>
                <a:ea typeface="Merriweather"/>
                <a:cs typeface="Merriweather"/>
                <a:sym typeface="Merriweather"/>
              </a:rPr>
              <a:t>Study Conclusion</a:t>
            </a:r>
            <a:endParaRPr b="1" sz="1850" u="sng">
              <a:solidFill>
                <a:schemeClr val="dk1"/>
              </a:solidFill>
              <a:latin typeface="Merriweather"/>
              <a:ea typeface="Merriweather"/>
              <a:cs typeface="Merriweather"/>
              <a:sym typeface="Merriweather"/>
            </a:endParaRPr>
          </a:p>
        </p:txBody>
      </p:sp>
      <p:sp>
        <p:nvSpPr>
          <p:cNvPr id="543" name="Google Shape;543;p51"/>
          <p:cNvSpPr txBox="1"/>
          <p:nvPr/>
        </p:nvSpPr>
        <p:spPr>
          <a:xfrm>
            <a:off x="3121000" y="1719025"/>
            <a:ext cx="2253900" cy="305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DM Sans"/>
                <a:ea typeface="DM Sans"/>
                <a:cs typeface="DM Sans"/>
                <a:sym typeface="DM Sans"/>
              </a:rPr>
              <a:t>This study found a positive, albeit statistically insignificant, positive association between eating on campus and eating vegetables regularly. Further studies with larger sample sizes are warranted to confirm.</a:t>
            </a:r>
            <a:endParaRPr sz="1600">
              <a:solidFill>
                <a:schemeClr val="dk2"/>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2"/>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Conclusion</a:t>
            </a:r>
            <a:endParaRPr/>
          </a:p>
        </p:txBody>
      </p:sp>
      <p:sp>
        <p:nvSpPr>
          <p:cNvPr id="549" name="Google Shape;549;p52"/>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550" name="Google Shape;550;p52"/>
          <p:cNvSpPr txBox="1"/>
          <p:nvPr/>
        </p:nvSpPr>
        <p:spPr>
          <a:xfrm>
            <a:off x="271425" y="1841550"/>
            <a:ext cx="3788100" cy="146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550">
                <a:solidFill>
                  <a:schemeClr val="dk1"/>
                </a:solidFill>
                <a:latin typeface="Merriweather"/>
                <a:ea typeface="Merriweather"/>
                <a:cs typeface="Merriweather"/>
                <a:sym typeface="Merriweather"/>
              </a:rPr>
              <a:t>Thank you!</a:t>
            </a:r>
            <a:endParaRPr b="1" sz="4550">
              <a:solidFill>
                <a:schemeClr val="dk1"/>
              </a:solidFill>
              <a:latin typeface="Merriweather"/>
              <a:ea typeface="Merriweather"/>
              <a:cs typeface="Merriweather"/>
              <a:sym typeface="Merriweather"/>
            </a:endParaRPr>
          </a:p>
          <a:p>
            <a:pPr indent="0" lvl="0" marL="0" rtl="0" algn="ctr">
              <a:spcBef>
                <a:spcPts val="0"/>
              </a:spcBef>
              <a:spcAft>
                <a:spcPts val="0"/>
              </a:spcAft>
              <a:buNone/>
            </a:pPr>
            <a:r>
              <a:rPr b="1" lang="en" sz="4550">
                <a:solidFill>
                  <a:schemeClr val="dk1"/>
                </a:solidFill>
                <a:latin typeface="Merriweather"/>
                <a:ea typeface="Merriweather"/>
                <a:cs typeface="Merriweather"/>
                <a:sym typeface="Merriweather"/>
              </a:rPr>
              <a:t>Questions?</a:t>
            </a:r>
            <a:endParaRPr b="1" sz="4550">
              <a:solidFill>
                <a:schemeClr val="dk1"/>
              </a:solidFill>
              <a:latin typeface="Merriweather"/>
              <a:ea typeface="Merriweather"/>
              <a:cs typeface="Merriweather"/>
              <a:sym typeface="Merriweather"/>
            </a:endParaRPr>
          </a:p>
        </p:txBody>
      </p:sp>
      <p:pic>
        <p:nvPicPr>
          <p:cNvPr id="551" name="Google Shape;551;p52" title="0fb790bd-5a61-48bd-9a7c-5c7888d7b3bf.sized-1000x1000.jpeg"/>
          <p:cNvPicPr preferRelativeResize="0"/>
          <p:nvPr>
            <p:ph idx="2" type="pic"/>
          </p:nvPr>
        </p:nvPicPr>
        <p:blipFill rotWithShape="1">
          <a:blip r:embed="rId3">
            <a:alphaModFix/>
          </a:blip>
          <a:srcRect b="8962" l="0" r="0" t="8970"/>
          <a:stretch/>
        </p:blipFill>
        <p:spPr>
          <a:xfrm>
            <a:off x="4437575" y="510275"/>
            <a:ext cx="4509600" cy="4436700"/>
          </a:xfrm>
          <a:prstGeom prst="round2DiagRect">
            <a:avLst>
              <a:gd fmla="val 16667" name="adj1"/>
              <a:gd fmla="val 0" name="adj2"/>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7" name="Google Shape;557;p5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Conclusion</a:t>
            </a:r>
            <a:endParaRPr/>
          </a:p>
        </p:txBody>
      </p:sp>
      <p:sp>
        <p:nvSpPr>
          <p:cNvPr id="558" name="Google Shape;558;p5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559" name="Google Shape;559;p53"/>
          <p:cNvSpPr txBox="1"/>
          <p:nvPr/>
        </p:nvSpPr>
        <p:spPr>
          <a:xfrm>
            <a:off x="196962" y="54941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References</a:t>
            </a:r>
            <a:endParaRPr b="1" sz="3650">
              <a:solidFill>
                <a:schemeClr val="dk1"/>
              </a:solidFill>
              <a:latin typeface="Merriweather"/>
              <a:ea typeface="Merriweather"/>
              <a:cs typeface="Merriweather"/>
              <a:sym typeface="Merriweather"/>
            </a:endParaRPr>
          </a:p>
        </p:txBody>
      </p:sp>
      <p:sp>
        <p:nvSpPr>
          <p:cNvPr id="560" name="Google Shape;560;p53"/>
          <p:cNvSpPr txBox="1"/>
          <p:nvPr/>
        </p:nvSpPr>
        <p:spPr>
          <a:xfrm>
            <a:off x="197375" y="1043225"/>
            <a:ext cx="8749200" cy="39039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Font typeface="DM Sans"/>
              <a:buAutoNum type="arabicPeriod"/>
            </a:pPr>
            <a:r>
              <a:rPr lang="en" sz="1100">
                <a:solidFill>
                  <a:schemeClr val="hlink"/>
                </a:solidFill>
                <a:uFill>
                  <a:noFill/>
                </a:uFill>
                <a:latin typeface="DM Sans"/>
                <a:ea typeface="DM Sans"/>
                <a:cs typeface="DM Sans"/>
                <a:sym typeface="DM Sans"/>
                <a:hlinkClick r:id="rId3"/>
              </a:rPr>
              <a:t>Song M, Garrett WS, Chan AT. 2015. Nutrients, Foods, and Colorectal Cancer Prevention. Gastroenterology. 148(6):1244-1260.e16. https://doi.org/10.1053/j.gastro.2014.12.035 </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uFill>
                  <a:noFill/>
                </a:uFill>
                <a:latin typeface="DM Sans"/>
                <a:ea typeface="DM Sans"/>
                <a:cs typeface="DM Sans"/>
                <a:sym typeface="DM Sans"/>
                <a:hlinkClick r:id="rId4"/>
              </a:rPr>
              <a:t>Slavin JL, Lloyd B. 2012. Health benefits of fruits and vegetables. Adv Nutr. 3(4):506–516. https://doi.org/10.3945/an.112.002154 </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latin typeface="DM Sans"/>
                <a:ea typeface="DM Sans"/>
                <a:cs typeface="DM Sans"/>
                <a:sym typeface="DM Sans"/>
              </a:rPr>
              <a:t>Li X, Braakhuis A, Li Z, Roy R. 2022 Apr. How Does the University Food Environment Impact Student Dietary Behaviors? A Systematic Review. [accessed 2026 Feb 6].</a:t>
            </a:r>
            <a:r>
              <a:rPr lang="en" sz="1100">
                <a:solidFill>
                  <a:schemeClr val="hlink"/>
                </a:solidFill>
                <a:uFill>
                  <a:noFill/>
                </a:uFill>
                <a:latin typeface="DM Sans"/>
                <a:ea typeface="DM Sans"/>
                <a:cs typeface="DM Sans"/>
                <a:sym typeface="DM Sans"/>
                <a:hlinkClick r:id="rId5"/>
              </a:rPr>
              <a:t> https://pubmed.ncbi.nlm.nih.gov/35571951/</a:t>
            </a:r>
            <a:r>
              <a:rPr lang="en" sz="1100">
                <a:solidFill>
                  <a:schemeClr val="hlink"/>
                </a:solidFill>
                <a:latin typeface="DM Sans"/>
                <a:ea typeface="DM Sans"/>
                <a:cs typeface="DM Sans"/>
                <a:sym typeface="DM Sans"/>
              </a:rPr>
              <a:t>.</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rPr>
              <a:t>Taillie LS. Who’s cooking? Trends in US home food preparation by gender, education, and race/ethnicity from 2003 to 2016. </a:t>
            </a:r>
            <a:r>
              <a:rPr i="1" lang="en" sz="1100">
                <a:solidFill>
                  <a:schemeClr val="hlink"/>
                </a:solidFill>
              </a:rPr>
              <a:t>Nutr J.</a:t>
            </a:r>
            <a:r>
              <a:rPr lang="en" sz="1100">
                <a:solidFill>
                  <a:schemeClr val="hlink"/>
                </a:solidFill>
              </a:rPr>
              <a:t> 2018;17(1):41. doi:10.1186/s12937-018-0347-9 </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AutoNum type="arabicPeriod"/>
            </a:pPr>
            <a:r>
              <a:rPr lang="en" sz="1100">
                <a:solidFill>
                  <a:schemeClr val="hlink"/>
                </a:solidFill>
              </a:rPr>
              <a:t>Wardle J, Haase AM, Steptoe A, Nillapun M, Jonwutiwes K, Bellisle F. Gender differences in food choice: the contribution of health beliefs and dieting. </a:t>
            </a:r>
            <a:r>
              <a:rPr i="1" lang="en" sz="1100">
                <a:solidFill>
                  <a:schemeClr val="hlink"/>
                </a:solidFill>
              </a:rPr>
              <a:t>Ann Behav Med</a:t>
            </a:r>
            <a:r>
              <a:rPr lang="en" sz="1100">
                <a:solidFill>
                  <a:schemeClr val="hlink"/>
                </a:solidFill>
              </a:rPr>
              <a:t>. 2004;27(2):107-116. doi:10.1207/s15324796abm2702_5</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AutoNum type="arabicPeriod"/>
            </a:pPr>
            <a:r>
              <a:rPr lang="en" sz="1100">
                <a:solidFill>
                  <a:schemeClr val="hlink"/>
                </a:solidFill>
              </a:rPr>
              <a:t>Deliens T, Clarys P, De Bourdeaudhuij I, Deforche B. Determinants of eating behaviour in university students: a qualitative study using focus group discussions. </a:t>
            </a:r>
            <a:r>
              <a:rPr i="1" lang="en" sz="1100">
                <a:solidFill>
                  <a:schemeClr val="hlink"/>
                </a:solidFill>
              </a:rPr>
              <a:t>BMC Public Health</a:t>
            </a:r>
            <a:r>
              <a:rPr lang="en" sz="1100">
                <a:solidFill>
                  <a:schemeClr val="hlink"/>
                </a:solidFill>
              </a:rPr>
              <a:t>. 2014;14:53. Published 2014 Jan 18. doi:10.1186/1471-2458-14-53</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rPr>
              <a:t>University of North Carolina at Chapel Hill Dining Services. Meal plans. Accessed April 21, 2026. UNC Meal Plans</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rPr>
              <a:t>Darmon N, Drewnowski A. Does social class predict diet quality?. </a:t>
            </a:r>
            <a:r>
              <a:rPr i="1" lang="en" sz="1100">
                <a:solidFill>
                  <a:schemeClr val="hlink"/>
                </a:solidFill>
              </a:rPr>
              <a:t>Am J Clin Nutr</a:t>
            </a:r>
            <a:r>
              <a:rPr lang="en" sz="1100">
                <a:solidFill>
                  <a:schemeClr val="hlink"/>
                </a:solidFill>
              </a:rPr>
              <a:t>. 2008;87(5):1107-1117. doi:10.1093/ajcn/87.5.1107</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latin typeface="DM Sans"/>
                <a:ea typeface="DM Sans"/>
                <a:cs typeface="DM Sans"/>
                <a:sym typeface="DM Sans"/>
              </a:rPr>
              <a:t>Ellis JM, Galloway AT, Zickgraf HF, Whited MC. 2018. Picky eating and fruit and vegetable consumption in college students. Eating Behaviors. 30:5–8. doi:</a:t>
            </a:r>
            <a:r>
              <a:rPr lang="en" sz="1100">
                <a:solidFill>
                  <a:schemeClr val="hlink"/>
                </a:solidFill>
                <a:uFill>
                  <a:noFill/>
                </a:uFill>
                <a:latin typeface="DM Sans"/>
                <a:ea typeface="DM Sans"/>
                <a:cs typeface="DM Sans"/>
                <a:sym typeface="DM Sans"/>
                <a:hlinkClick r:id="rId6"/>
              </a:rPr>
              <a:t>10.1016/j.eatbeh.2018.05.001</a:t>
            </a:r>
            <a:r>
              <a:rPr lang="en" sz="1100">
                <a:solidFill>
                  <a:schemeClr val="hlink"/>
                </a:solidFill>
                <a:latin typeface="DM Sans"/>
                <a:ea typeface="DM Sans"/>
                <a:cs typeface="DM Sans"/>
                <a:sym typeface="DM Sans"/>
              </a:rPr>
              <a:t>.</a:t>
            </a:r>
            <a:endParaRPr sz="1100">
              <a:solidFill>
                <a:schemeClr val="hlink"/>
              </a:solidFill>
              <a:latin typeface="DM Sans"/>
              <a:ea typeface="DM Sans"/>
              <a:cs typeface="DM Sans"/>
              <a:sym typeface="DM Sans"/>
            </a:endParaRPr>
          </a:p>
          <a:p>
            <a:pPr indent="-298450" lvl="0" marL="457200" rtl="0" algn="l">
              <a:lnSpc>
                <a:spcPct val="100000"/>
              </a:lnSpc>
              <a:spcBef>
                <a:spcPts val="0"/>
              </a:spcBef>
              <a:spcAft>
                <a:spcPts val="0"/>
              </a:spcAft>
              <a:buClr>
                <a:schemeClr val="hlink"/>
              </a:buClr>
              <a:buSzPts val="1100"/>
              <a:buFont typeface="DM Sans"/>
              <a:buAutoNum type="arabicPeriod"/>
            </a:pPr>
            <a:r>
              <a:rPr lang="en" sz="1100">
                <a:solidFill>
                  <a:schemeClr val="hlink"/>
                </a:solidFill>
                <a:latin typeface="DM Sans"/>
                <a:ea typeface="DM Sans"/>
                <a:cs typeface="DM Sans"/>
                <a:sym typeface="DM Sans"/>
              </a:rPr>
              <a:t>Vivekanandan N, Vallone N, Sylvetsky A. Impact of University Dining Hall on Fruit and Vegetable Consumption among First-year Undergraduate Students.</a:t>
            </a:r>
            <a:endParaRPr sz="1100">
              <a:solidFill>
                <a:schemeClr val="hlink"/>
              </a:solidFill>
              <a:latin typeface="DM Sans"/>
              <a:ea typeface="DM Sans"/>
              <a:cs typeface="DM Sans"/>
              <a:sym typeface="DM Sans"/>
            </a:endParaRPr>
          </a:p>
          <a:p>
            <a:pPr indent="0" lvl="0" marL="0" rtl="0" algn="l">
              <a:lnSpc>
                <a:spcPct val="100000"/>
              </a:lnSpc>
              <a:spcBef>
                <a:spcPts val="1200"/>
              </a:spcBef>
              <a:spcAft>
                <a:spcPts val="1200"/>
              </a:spcAft>
              <a:buClr>
                <a:schemeClr val="hlink"/>
              </a:buClr>
              <a:buSzPts val="1100"/>
              <a:buFont typeface="Arial"/>
              <a:buNone/>
            </a:pPr>
            <a:r>
              <a:t/>
            </a:r>
            <a:endParaRPr sz="1100">
              <a:solidFill>
                <a:schemeClr val="hlink"/>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Conclusion</a:t>
            </a:r>
            <a:endParaRPr/>
          </a:p>
        </p:txBody>
      </p:sp>
      <p:sp>
        <p:nvSpPr>
          <p:cNvPr id="566" name="Google Shape;566;p54"/>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EPID 600</a:t>
            </a:r>
            <a:endParaRPr/>
          </a:p>
        </p:txBody>
      </p:sp>
      <p:sp>
        <p:nvSpPr>
          <p:cNvPr id="567" name="Google Shape;567;p54"/>
          <p:cNvSpPr txBox="1"/>
          <p:nvPr/>
        </p:nvSpPr>
        <p:spPr>
          <a:xfrm>
            <a:off x="1896600" y="784500"/>
            <a:ext cx="5350800" cy="70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050">
                <a:solidFill>
                  <a:schemeClr val="dk1"/>
                </a:solidFill>
                <a:latin typeface="Merriweather"/>
                <a:ea typeface="Merriweather"/>
                <a:cs typeface="Merriweather"/>
                <a:sym typeface="Merriweather"/>
              </a:rPr>
              <a:t>AI Attestation</a:t>
            </a:r>
            <a:endParaRPr b="1" sz="4050">
              <a:solidFill>
                <a:schemeClr val="dk1"/>
              </a:solidFill>
              <a:latin typeface="Merriweather"/>
              <a:ea typeface="Merriweather"/>
              <a:cs typeface="Merriweather"/>
              <a:sym typeface="Merriweather"/>
            </a:endParaRPr>
          </a:p>
        </p:txBody>
      </p:sp>
      <p:sp>
        <p:nvSpPr>
          <p:cNvPr id="568" name="Google Shape;568;p54"/>
          <p:cNvSpPr txBox="1"/>
          <p:nvPr/>
        </p:nvSpPr>
        <p:spPr>
          <a:xfrm>
            <a:off x="605100" y="1685675"/>
            <a:ext cx="793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Assistant Medium"/>
                <a:ea typeface="Assistant Medium"/>
                <a:cs typeface="Assistant Medium"/>
                <a:sym typeface="Assistant Medium"/>
              </a:rPr>
              <a:t>We attest that this submission did not use AI in its development or in the creation of any of its components.</a:t>
            </a:r>
            <a:endParaRPr>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